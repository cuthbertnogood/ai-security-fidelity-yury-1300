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5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6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76" r:id="rId22"/>
    <p:sldId id="294" r:id="rId40"/>
    <p:sldId id="302" r:id="rId48"/>
    <p:sldId id="259" r:id="rId5"/>
    <p:sldId id="290" r:id="rId36"/>
    <p:sldId id="289" r:id="rId35"/>
    <p:sldId id="275" r:id="rId21"/>
    <p:sldId id="260" r:id="rId6"/>
    <p:sldId id="281" r:id="rId27"/>
    <p:sldId id="270" r:id="rId16"/>
    <p:sldId id="293" r:id="rId39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16" Type="http://schemas.openxmlformats.org/officeDocument/2006/relationships/slide" Target="slides/slide15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8" Type="http://schemas.openxmlformats.org/officeDocument/2006/relationships/slide" Target="slides/slide47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Титул. Разбор тезиса Юрия Максимова, высказанного на пленарной сессии форума «Цифровые решения» 7 октября 2026 («Государство как цифровой сервис: где остановиться?», Национальный центр «Россия»).</a:t>
            </a:r>
          </a:p>
          <a:p>
            <a:r>
              <a:rPr lang="ru-RU"/>
              <a:t>Источники: пост https://t.me/yury/1300; запись сессии VK Video video-160329499_456285376, фрагмент 57:07–61:51; репозиторий https://github.com/cuthbertnogood/ai-security-fidelity-yury-1300.</a:t>
            </a:r>
          </a:p>
          <a:p>
            <a:r>
              <a:rPr lang="ru-RU"/>
              <a:t>Фото: кадр трансляции сессии (VK Video).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Цитаты: Юрий Максимов, 58:20 записи VK Video video-160329499_456285376 (transcript/transcript.md): «у тебя стоит какое-то приложение на компьютере, где-то там на серверах у тебя инференс, это так называемый, данные собираются, что-то всё делает. И человек даже теряет какую-то субъектность и ответственность за свои поступки. Он говорит: «Я поручил агенту, а агент мне там такого наколбасил, что, ну извините, это не я». Нас это не устраивает — ни государство, ни бизнес.»</a:t>
            </a:r>
          </a:p>
          <a:p>
            <a:r>
              <a:rPr lang="ru-RU"/>
              <a:t>Пост: https://t.me/yury/1300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Полигон и 100 млн рублей (60:38, transcript/transcript.md): «Если ты сможешь сделать так, что он будет строить не банк, а украдёт вот те данные, — тебе 100 миллионов рублей.»</a:t>
            </a:r>
          </a:p>
          <a:p>
            <a:r>
              <a:rPr lang="ru-RU"/>
              <a:t>61:02: «ИИшка делает большую рутинную работу, но ответственность за конечный результат несёт человек… И мы, как разработчики, несём финансовую ответственность опосредованно за этот результат. Если произойдёт что-то другое… мы потеряем эти деньги как гарант».</a:t>
            </a:r>
          </a:p>
          <a:p>
            <a:r>
              <a:rPr lang="ru-RU"/>
              <a:t>Цепочка ответственности: diagrams/04_responsibility_chain.mmd (на слайде передана нативно). Видео: VK Video video-160329499_456285376; пост https://t.me/yury/1300.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Сильные стороны: analysis.md §4. Слабые места: analysis.md §5 (возражения 2, 4, 5, 3, 8). Связь с концепциями: analysis.md §6.1–6.4. Итог: analysis.md §8.</a:t>
            </a:r>
          </a:p>
          <a:p>
            <a:r>
              <a:rPr lang="ru-RU"/>
              <a:t>Источник тезиса: https://t.me/yury/1300; репозиторий https://github.com/cuthbertnogood/ai-security-fidelity-yury-1300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Источник: transcript/transcript.md, 59:10–60:38 записи VK Video video-160329499_456285376: «эту задачу невозможно решить без самого ИИ»; ИИ-строитель делает инфраструктуру банка, другой ИИ через «дырочку в этот инференс» подмешивает промпт, третий собирает «сеть, прокси, запросы, все системные вызовы»; «и ты их зацикливаешь в цикл… перебирать все возможные ИИшки: и фронтирные, и иностранные, и наши, и опенсорсовые».</a:t>
            </a:r>
          </a:p>
          <a:p>
            <a:r>
              <a:rPr lang="ru-RU"/>
              <a:t>Схема: diagrams/03_ai_security_loop.mmd (на слайде передана нативно).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Подпись к посту https://t.me/yury/1300 (дословно): «С приходом ИИ обновляется природа безопасности: появляется гарантия верности машины поручению и замыслу человека, который, в свою очередь, принимает ответственность за результат ее деятельности.»</a:t>
            </a:r>
          </a:p>
          <a:p>
            <a:r>
              <a:rPr lang="ru-RU"/>
              <a:t>Карточка «Верность»: формулировка Максимова на 59:10 записи — агент «делал всё то, что соразмерно тому, что я поручил, и не делал того, что выходит за разумные границы».</a:t>
            </a:r>
          </a:p>
          <a:p>
            <a:r>
              <a:rPr lang="ru-RU"/>
              <a:t>Тезис почти дословно звучит на 61:02–61:31 записи VK Video video-160329499_456285376.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Таблица и вывод: analysis.md §6.5 «Классическая ИБ (CIA) против безопасности ИИ-агентов»: «верность» можно считать расширением целостности с данных на поведение; CIA остаётся нижним слоем.</a:t>
            </a:r>
          </a:p>
          <a:p>
            <a:r>
              <a:rPr lang="ru-RU"/>
              <a:t>Схема: diagrams/02_old_vs_new_security.mmd (смысл передан нативно). Источник тезиса: https://t.me/yury/1300; VK Video video-160329499_456285376.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Цитата (59:10, VK Video video-160329499_456285376, transcript/transcript.md): «нам нужно сделать так, чтобы агент был верен моему поручению. То есть он делал всё то, что соразмерно тому, что я поручил, и не делал того, что выходит за разумные границы всего этого.»</a:t>
            </a:r>
          </a:p>
          <a:p>
            <a:r>
              <a:rPr lang="ru-RU"/>
              <a:t>Роли человек ↔ ИИ: схема diagrams/01_human_ai_roles.mmd (на слайде передана нативными фигурами). Подпись к посту https://t.me/yury/1300: «гарантия верности машины поручению и замыслу человека, который… принимает ответственность за результат».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Цитаты: Юрий Максимов, после 58:20 записи VK Video video-160329499_456285376 (transcript/transcript.md): «Давайте агенту нельзя будет делать это, это и это. Но агент — он не человек, он терпеть не будет, он просто начинает тупить и не делать свою работу. То есть старые подходы ограничений ты в ИИшке применить не можешь.»</a:t>
            </a:r>
          </a:p>
          <a:p>
            <a:r>
              <a:rPr lang="ru-RU"/>
              <a:t>Комментарий «что остаётся» — из разбора: analysis.md (критика №1 «Ложная дихотомия», п. 8 «Жёсткие ограничения остаются нижним слоем»), action_plan.md (нижний слой: песочницы, лимиты).</a:t>
            </a:r>
          </a:p>
          <a:p>
            <a:r>
              <a:rPr lang="ru-RU"/>
              <a:t>Репозиторий: https://github.com/cuthbertnogood/ai-security-fidelity-yury-1300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План: action_plan.md, «Сводная дорожная карта» (фазы 0–6 и сроки); три действия на завтра — фаза 0 (реестр агентов, владельцы) и фаза 1 (права на задачу, task-scoped).</a:t>
            </a:r>
          </a:p>
          <a:p>
            <a:r>
              <a:rPr lang="ru-RU"/>
              <a:t>Репозиторий: https://github.com/cuthbertnogood/ai-security-fidelity-yury-1300; источник: https://t.me/yury/1300; видео VK Video video-160329499_456285376.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Вопрос ведущей (≈57:07): сервис «либо удобный, либо коммерчески эффективный, либо безопасный. Возможно ли все три этих характеристики соединить воедино или безопасность всегда выпадает?»</a:t>
            </a:r>
          </a:p>
          <a:p>
            <a:r>
              <a:rPr lang="ru-RU"/>
              <a:t>Ответ Максимова (57:25): «мы с точки зрения безопасности цифры просто как цивилизация не доработали». Аналогия: появились автомобили — людей давили — появилось регулирование дорожного движения и пешеходные переходы — «людей давить перестали». «Это тяжело людям — переходить через пешеходные переходы на зелёный свет? Не очень. Это разумно.»</a:t>
            </a:r>
          </a:p>
          <a:p>
            <a:r>
              <a:rPr lang="ru-RU"/>
              <a:t>Источник: VK Video video-160329499_456285376 (транскрипт transcript/transcript.md); пост https://t.me/yury/1300.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Цитата: Юрий Максимов, пленарная сессия «Цифровые решения» 7.10.2026, VK Video video-160329499_456285376, абзац после 57:25 (transcript/transcript.md).</a:t>
            </a:r>
          </a:p>
          <a:p>
            <a:r>
              <a:rPr lang="ru-RU"/>
              <a:t>Старая модель (запреты: ACL, периметр, политики; CIA — конфиденциальность, целостность, доступность): analysis.md, таблица сравнения; схема diagrams/rendered/02_old_vs_new_security.png (левая половина).</a:t>
            </a:r>
          </a:p>
          <a:p>
            <a:r>
              <a:rPr lang="ru-RU"/>
              <a:t>Репозиторий: https://github.com/cuthbertnogood/ai-security-fidelity-yury-1300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G1Img" Type="http://schemas.openxmlformats.org/officeDocument/2006/relationships/image" Target="../media/g1_maximov_frame.jp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G4Link" Type="http://schemas.openxmlformats.org/officeDocument/2006/relationships/hyperlink" Target="https://github.com/cuthbertnogood/ai-security-fidelity-yury-1300" TargetMode="Externa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329184"/>
            <a:ext cx="1106424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ИБ · ИИ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835640" y="6217920"/>
            <a:ext cx="896112" cy="265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 indent="0" marL="0">
              <a:buNone/>
            </a:pPr>
            <a:r>
              <a:rPr lang="ru-RU" sz="11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</a:p>
        </p:txBody>
      </p:sp>
      <p:sp>
        <p:nvSpPr>
          <p:cNvPr id="4" name="Shape 2"/>
          <p:cNvSpPr/>
          <p:nvPr/>
        </p:nvSpPr>
        <p:spPr>
          <a:xfrm>
            <a:off x="7114032" y="1316736"/>
            <a:ext cx="3419856" cy="4379976"/>
          </a:xfrm>
          <a:prstGeom prst="roundRect">
            <a:avLst>
              <a:gd name="adj" fmla="val 5000"/>
            </a:avLst>
          </a:prstGeom>
          <a:ln w="12700">
            <a:solidFill>
              <a:srgbClr val="ECEEF3"/>
            </a:solidFill>
            <a:prstDash val="solid"/>
          </a:ln>
        </p:spPr>
      </p:sp>
      <p:pic>
        <p:nvPicPr>
          <p:cNvPr id="40" name="Photo Maximov" descr="Юрий Максимов на пленарной сессии «Цифровые решения», 7.10.2026 (кадр трансляции)"/>
          <p:cNvPicPr>
            <a:picLocks noChangeAspect="1"/>
          </p:cNvPicPr>
          <p:nvPr/>
        </p:nvPicPr>
        <p:blipFill>
          <a:blip r:embed="rIdG1Img"/>
          <a:srcRect l="20468" r="35625"/>
          <a:stretch>
            <a:fillRect/>
          </a:stretch>
        </p:blipFill>
        <p:spPr>
          <a:xfrm>
            <a:off x="7114032" y="1316736"/>
            <a:ext cx="3419856" cy="4379976"/>
          </a:xfrm>
          <a:prstGeom prst="roundRect">
            <a:avLst>
              <a:gd name="adj" fmla="val 5000"/>
            </a:avLst>
          </a:prstGeom>
        </p:spPr>
      </p:pic>
      <p:sp>
        <p:nvSpPr>
          <p:cNvPr id="6" name="Shape 4"/>
          <p:cNvSpPr/>
          <p:nvPr/>
        </p:nvSpPr>
        <p:spPr>
          <a:xfrm>
            <a:off x="6766560" y="3081528"/>
            <a:ext cx="694944" cy="694944"/>
          </a:xfrm>
          <a:prstGeom prst="roundRect">
            <a:avLst>
              <a:gd name="adj" fmla="val 50000"/>
            </a:avLst>
          </a:prstGeom>
          <a:ln w="12700">
            <a:solidFill>
              <a:srgbClr val="EC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86416" y="1828800"/>
            <a:ext cx="694944" cy="694944"/>
          </a:xfrm>
          <a:prstGeom prst="roundRect">
            <a:avLst>
              <a:gd name="adj" fmla="val 50000"/>
            </a:avLst>
          </a:prstGeom>
          <a:ln w="12700">
            <a:solidFill>
              <a:srgbClr val="ECEE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08176" y="1188720"/>
            <a:ext cx="5394960" cy="2103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3600" dirty="0">
                <a:solidFill>
                  <a:srgbClr val="00C7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Верность поручению: </a:t>
            </a:r>
            <a:r>
              <a:rPr lang="ru-RU" sz="36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ИИ меняет природу безопасности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408176" y="3429000"/>
            <a:ext cx="512064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ru-RU" sz="160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Разбор тезиса Юрия Максимова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1408176" y="3977639"/>
            <a:ext cx="493776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ru-RU" sz="14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Пленарная сессия форума «Цифровые решения»</a:t>
            </a:r>
          </a:p>
          <a:p>
            <a:pPr algn="l" indent="0" marL="0">
              <a:lnSpc>
                <a:spcPct val="150000"/>
              </a:lnSpc>
              <a:buNone/>
            </a:pPr>
            <a:r>
              <a:rPr lang="ru-RU" sz="14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 октября 2026</a:t>
            </a:r>
          </a:p>
        </p:txBody>
      </p:sp>
      <p:sp>
        <p:nvSpPr>
          <p:cNvPr id="11" name="Text 9"/>
          <p:cNvSpPr/>
          <p:nvPr/>
        </p:nvSpPr>
        <p:spPr>
          <a:xfrm>
            <a:off x="1499616" y="4983480"/>
            <a:ext cx="4206240" cy="365760"/>
          </a:xfrm>
          <a:prstGeom prst="rect">
            <a:avLst>
              <a:gd name="adj" fmla="val 48780"/>
            </a:avLst>
          </a:prstGeom>
          <a:noFill/>
          <a:ln/>
        </p:spPr>
        <p:txBody>
          <a:bodyPr wrap="square" lIns="0" tIns="45720" rIns="91440" bIns="45720" rtlCol="0" anchor="ctr"/>
          <a:lstStyle/>
          <a:p>
            <a:pPr algn="l" indent="0" marL="0">
              <a:buNone/>
            </a:pPr>
            <a:r>
              <a:rPr lang="ru-RU" sz="120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пост t.me/yury/1300</a:t>
            </a:r>
          </a:p>
        </p:txBody>
      </p:sp>
      <p:sp>
        <p:nvSpPr>
          <p:cNvPr id="13" name="Shape 11"/>
          <p:cNvSpPr/>
          <p:nvPr/>
        </p:nvSpPr>
        <p:spPr>
          <a:xfrm>
            <a:off x="6135624" y="3922776"/>
            <a:ext cx="1581912" cy="1627632"/>
          </a:xfrm>
          <a:prstGeom prst="roundRect">
            <a:avLst>
              <a:gd name="adj" fmla="val 9249"/>
            </a:avLst>
          </a:prstGeom>
          <a:solidFill>
            <a:srgbClr val="4437E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36208" y="4526280"/>
            <a:ext cx="1417320" cy="960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ru-RU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Гарантия верности машины поручению</a:t>
            </a:r>
          </a:p>
        </p:txBody>
      </p:sp>
      <p:sp>
        <p:nvSpPr>
          <p:cNvPr id="15" name="Shape 13"/>
          <p:cNvSpPr/>
          <p:nvPr/>
        </p:nvSpPr>
        <p:spPr>
          <a:xfrm>
            <a:off x="6447983" y="4189415"/>
            <a:ext cx="179954" cy="179954"/>
          </a:xfrm>
          <a:prstGeom prst="roundRect">
            <a:avLst>
              <a:gd name="adj" fmla="val 25000"/>
            </a:avLst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9167" y="4250599"/>
            <a:ext cx="57585" cy="57585"/>
          </a:xfrm>
          <a:prstGeom prst="ellipse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329184"/>
            <a:ext cx="1106424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ИБ · ИИ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835640" y="6217920"/>
            <a:ext cx="896112" cy="265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 indent="0" marL="0">
              <a:buNone/>
            </a:pPr>
            <a:r>
              <a:rPr lang="ru-RU" sz="11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</a:t>
            </a:r>
          </a:p>
        </p:txBody>
      </p:sp>
      <p:sp>
        <p:nvSpPr>
          <p:cNvPr id="4" name="Shape 2"/>
          <p:cNvSpPr/>
          <p:nvPr/>
        </p:nvSpPr>
        <p:spPr>
          <a:xfrm>
            <a:off x="7068312" y="1170432"/>
            <a:ext cx="3675888" cy="4517136"/>
          </a:xfrm>
          <a:prstGeom prst="roundRect">
            <a:avLst>
              <a:gd name="adj" fmla="val 5000"/>
            </a:avLst>
          </a:prstGeom>
          <a:ln w="12700">
            <a:solidFill>
              <a:srgbClr val="ECEE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68312" y="1170432"/>
            <a:ext cx="3675888" cy="2286000"/>
          </a:xfrm>
          <a:prstGeom prst="rect">
            <a:avLst/>
          </a:prstGeom>
          <a:noFill/>
          <a:ln/>
        </p:spPr>
        <p:txBody>
          <a:bodyPr wrap="square" lIns="256032" tIns="228600" rIns="13716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ru-RU" sz="1600" dirty="0" b="1">
                <a:solidFill>
                  <a:srgbClr val="4437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работает агентная схема</a:t>
            </a:r>
          </a:p>
          <a:p>
            <a:pPr algn="l" indent="0" marL="0">
              <a:spcAft>
                <a:spcPts val="300"/>
              </a:spcAft>
              <a:buNone/>
            </a:pPr>
            <a:r>
              <a:rPr lang="ru-RU" sz="17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Приложение на компьютере</a:t>
            </a:r>
          </a:p>
          <a:p>
            <a:pPr algn="l" indent="0" marL="0">
              <a:spcAft>
                <a:spcPts val="300"/>
              </a:spcAft>
              <a:buNone/>
            </a:pPr>
            <a:r>
              <a:rPr lang="ru-RU" sz="17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↓  инференс на серверах</a:t>
            </a:r>
          </a:p>
          <a:p>
            <a:pPr algn="l" indent="0" marL="0">
              <a:spcAft>
                <a:spcPts val="300"/>
              </a:spcAft>
              <a:buNone/>
            </a:pPr>
            <a:r>
              <a:rPr lang="ru-RU" sz="17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↓  данные собираются</a:t>
            </a:r>
          </a:p>
          <a:p>
            <a:pPr algn="l" indent="0" marL="0">
              <a:spcAft>
                <a:spcPts val="300"/>
              </a:spcAft>
              <a:buNone/>
            </a:pPr>
            <a:r>
              <a:rPr lang="ru-RU" sz="17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↓  «что-то всё делает»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1444752" y="1280160"/>
            <a:ext cx="5303520" cy="1371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ru-RU" sz="36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ИИ-агенты: </a:t>
            </a:r>
            <a:r>
              <a:rPr lang="ru-RU" sz="3600" dirty="0">
                <a:solidFill>
                  <a:srgbClr val="00C7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потеря субъектности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444752" y="2834640"/>
            <a:ext cx="5120640" cy="2743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spcAft>
                <a:spcPts val="1000"/>
              </a:spcAft>
              <a:lnSpc>
                <a:spcPct val="150000"/>
              </a:lnSpc>
              <a:buNone/>
            </a:pPr>
            <a:r>
              <a:rPr lang="ru-RU" sz="20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«Человек даже теряет какую-то субъектность и ответственность за свои поступки»</a:t>
            </a:r>
          </a:p>
          <a:p>
            <a:pPr algn="l" indent="0" marL="0">
              <a:spcAft>
                <a:spcPts val="1000"/>
              </a:spcAft>
              <a:lnSpc>
                <a:spcPct val="150000"/>
              </a:lnSpc>
              <a:buNone/>
            </a:pPr>
            <a:r>
              <a:rPr lang="ru-RU" sz="20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«Нас это не устраивает — ни государство, ни бизнес»</a:t>
            </a:r>
          </a:p>
          <a:p>
            <a:pPr algn="l">
              <a:spcBef>
                <a:spcPts val="1400"/>
              </a:spcBef>
            </a:pPr>
            <a:r>
              <a:rPr lang="ru-RU" sz="1400" b="0">
                <a:solidFill>
                  <a:srgbClr val="00977F"/>
                </a:solidFill>
                <a:latin typeface="Montserrat"/>
                <a:ea typeface="Montserrat"/>
                <a:cs typeface="Montserrat"/>
              </a:rPr>
              <a:t>— Юрий Максимов, пленарная сессия «Цифровые решения», 7.10.2026</a:t>
            </a:r>
          </a:p>
        </p:txBody>
      </p:sp>
      <p:sp>
        <p:nvSpPr>
          <p:cNvPr id="10" name="Shape 8"/>
          <p:cNvSpPr/>
          <p:nvPr/>
        </p:nvSpPr>
        <p:spPr>
          <a:xfrm>
            <a:off x="7744968" y="3483864"/>
            <a:ext cx="3008376" cy="2203704"/>
          </a:xfrm>
          <a:prstGeom prst="roundRect">
            <a:avLst>
              <a:gd name="adj" fmla="val 7884"/>
            </a:avLst>
          </a:prstGeom>
          <a:solidFill>
            <a:srgbClr val="4437E6"/>
          </a:solidFill>
          <a:ln/>
        </p:spPr>
        <p:txBody>
          <a:bodyPr wrap="square" anchor="ctr" lIns="228600" rIns="228600" tIns="228600" bIns="228600"/>
          <a:lstStyle/>
          <a:p>
            <a:pPr algn="l">
              <a:spcAft>
                <a:spcPts val="600"/>
              </a:spcAft>
            </a:pPr>
            <a:r>
              <a:rPr lang="ru-RU" sz="170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«Я поручил агенту, а агент мне там такого наколбасил, что, ну извините, это не я»</a:t>
            </a:r>
          </a:p>
          <a:p>
            <a:pPr algn="l">
              <a:spcAft>
                <a:spcPts val="600"/>
              </a:spcAft>
            </a:pPr>
            <a:r>
              <a:rPr lang="ru-RU" sz="1200">
                <a:solidFill>
                  <a:srgbClr val="D9D6FA"/>
                </a:solidFill>
                <a:latin typeface="Nunito"/>
                <a:ea typeface="Nunito"/>
                <a:cs typeface="Nunito"/>
              </a:rPr>
              <a:t>— так рассуждает человек, по словам Максимова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329184"/>
            <a:ext cx="1106424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ИБ · ИИ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835640" y="6217920"/>
            <a:ext cx="896112" cy="265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 indent="0" marL="0">
              <a:buNone/>
            </a:pPr>
            <a:r>
              <a:rPr lang="ru-RU" sz="11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</a:t>
            </a:r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6099048" cy="5943600"/>
          </a:xfrm>
          <a:prstGeom prst="rect">
            <a:avLst/>
          </a:prstGeom>
          <a:ln w="12700">
            <a:solidFill>
              <a:srgbClr val="ECEEF3"/>
            </a:solidFill>
            <a:prstDash val="solid"/>
          </a:ln>
        </p:spPr>
      </p:sp>
      <p:sp>
        <p:nvSpPr>
          <p:cNvPr id="218" name="Chain step"/>
          <p:cNvSpPr/>
          <p:nvPr/>
        </p:nvSpPr>
        <p:spPr>
          <a:xfrm>
            <a:off x="685800" y="1252728"/>
            <a:ext cx="4937760" cy="96012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txBody>
          <a:bodyPr wrap="square" lIns="201168" rIns="201168" tIns="120700" bIns="120700" anchor="ctr"/>
          <a:lstStyle/>
          <a:p>
            <a:pPr algn="l">
              <a:spcAft>
                <a:spcPts val="200"/>
              </a:spcAft>
            </a:pPr>
            <a:r>
              <a:rPr lang="ru-RU" sz="1600" b="1">
                <a:solidFill>
                  <a:srgbClr val="262626"/>
                </a:solidFill>
                <a:latin typeface="Montserrat"/>
                <a:ea typeface="Montserrat"/>
                <a:cs typeface="Montserrat"/>
              </a:rPr>
              <a:t>1. Человек даёт поручение</a:t>
            </a:r>
          </a:p>
          <a:p>
            <a:pPr algn="l">
              <a:spcAft>
                <a:spcPts val="0"/>
              </a:spcAft>
            </a:pPr>
            <a:r>
              <a:rPr lang="ru-RU" sz="1400" b="0">
                <a:solidFill>
                  <a:srgbClr val="808080"/>
                </a:solidFill>
                <a:latin typeface="Nunito"/>
                <a:ea typeface="Nunito"/>
                <a:cs typeface="Nunito"/>
              </a:rPr>
              <a:t>замысел и границы задачи</a:t>
            </a:r>
          </a:p>
        </p:txBody>
      </p:sp>
      <p:cxnSp>
        <p:nvCxnSpPr>
          <p:cNvPr id="219" name="Chain arrow"/>
          <p:cNvCxnSpPr/>
          <p:nvPr/>
        </p:nvCxnSpPr>
        <p:spPr>
          <a:xfrm>
            <a:off x="3154680" y="2249424"/>
            <a:ext cx="0" cy="219455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</p:cxnSp>
      <p:sp>
        <p:nvSpPr>
          <p:cNvPr id="220" name="Chain step"/>
          <p:cNvSpPr/>
          <p:nvPr/>
        </p:nvSpPr>
        <p:spPr>
          <a:xfrm>
            <a:off x="685800" y="2505456"/>
            <a:ext cx="4937760" cy="96012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txBody>
          <a:bodyPr wrap="square" lIns="201168" rIns="201168" tIns="120700" bIns="120700" anchor="ctr"/>
          <a:lstStyle/>
          <a:p>
            <a:pPr algn="l">
              <a:spcAft>
                <a:spcPts val="200"/>
              </a:spcAft>
            </a:pPr>
            <a:r>
              <a:rPr lang="ru-RU" sz="1600" b="1">
                <a:solidFill>
                  <a:srgbClr val="262626"/>
                </a:solidFill>
                <a:latin typeface="Montserrat"/>
                <a:ea typeface="Montserrat"/>
                <a:cs typeface="Montserrat"/>
              </a:rPr>
              <a:t>2. ИИ-агент исполняет</a:t>
            </a:r>
          </a:p>
          <a:p>
            <a:pPr algn="l">
              <a:spcAft>
                <a:spcPts val="0"/>
              </a:spcAft>
            </a:pPr>
            <a:r>
              <a:rPr lang="ru-RU" sz="1400" b="0">
                <a:solidFill>
                  <a:srgbClr val="808080"/>
                </a:solidFill>
                <a:latin typeface="Nunito"/>
                <a:ea typeface="Nunito"/>
                <a:cs typeface="Nunito"/>
              </a:rPr>
              <a:t>контур безопасности блокирует выход за границы</a:t>
            </a:r>
          </a:p>
        </p:txBody>
      </p:sp>
      <p:cxnSp>
        <p:nvCxnSpPr>
          <p:cNvPr id="221" name="Chain arrow"/>
          <p:cNvCxnSpPr/>
          <p:nvPr/>
        </p:nvCxnSpPr>
        <p:spPr>
          <a:xfrm>
            <a:off x="3154680" y="3502152"/>
            <a:ext cx="0" cy="219455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</p:cxnSp>
      <p:sp>
        <p:nvSpPr>
          <p:cNvPr id="222" name="Chain step"/>
          <p:cNvSpPr/>
          <p:nvPr/>
        </p:nvSpPr>
        <p:spPr>
          <a:xfrm>
            <a:off x="685800" y="3758184"/>
            <a:ext cx="4937760" cy="96012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txBody>
          <a:bodyPr wrap="square" lIns="201168" rIns="201168" tIns="120700" bIns="120700" anchor="ctr"/>
          <a:lstStyle/>
          <a:p>
            <a:pPr algn="l">
              <a:spcAft>
                <a:spcPts val="200"/>
              </a:spcAft>
            </a:pPr>
            <a:r>
              <a:rPr lang="ru-RU" sz="1600" b="1">
                <a:solidFill>
                  <a:srgbClr val="262626"/>
                </a:solidFill>
                <a:latin typeface="Montserrat"/>
                <a:ea typeface="Montserrat"/>
                <a:cs typeface="Montserrat"/>
              </a:rPr>
              <a:t>3. Результат — человеку</a:t>
            </a:r>
          </a:p>
          <a:p>
            <a:pPr algn="l">
              <a:spcAft>
                <a:spcPts val="0"/>
              </a:spcAft>
            </a:pPr>
            <a:r>
              <a:rPr lang="ru-RU" sz="1400" b="0">
                <a:solidFill>
                  <a:srgbClr val="808080"/>
                </a:solidFill>
                <a:latin typeface="Nunito"/>
                <a:ea typeface="Nunito"/>
                <a:cs typeface="Nunito"/>
              </a:rPr>
              <a:t>он отвечает за конечный итог; «это не я» не принимается</a:t>
            </a:r>
          </a:p>
        </p:txBody>
      </p:sp>
      <p:cxnSp>
        <p:nvCxnSpPr>
          <p:cNvPr id="223" name="Chain arrow"/>
          <p:cNvCxnSpPr/>
          <p:nvPr/>
        </p:nvCxnSpPr>
        <p:spPr>
          <a:xfrm>
            <a:off x="3154680" y="4754880"/>
            <a:ext cx="0" cy="219456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</p:cxnSp>
      <p:sp>
        <p:nvSpPr>
          <p:cNvPr id="224" name="Chain step"/>
          <p:cNvSpPr/>
          <p:nvPr/>
        </p:nvSpPr>
        <p:spPr>
          <a:xfrm>
            <a:off x="685800" y="5010912"/>
            <a:ext cx="4937760" cy="960120"/>
          </a:xfrm>
          <a:prstGeom prst="roundRect">
            <a:avLst/>
          </a:prstGeom>
          <a:solidFill>
            <a:srgbClr val="4437E6"/>
          </a:solidFill>
          <a:ln>
            <a:noFill/>
          </a:ln>
        </p:spPr>
        <p:txBody>
          <a:bodyPr wrap="square" lIns="201168" rIns="201168" tIns="120700" bIns="120700" anchor="ctr"/>
          <a:lstStyle/>
          <a:p>
            <a:pPr algn="l">
              <a:spcAft>
                <a:spcPts val="200"/>
              </a:spcAft>
            </a:pPr>
            <a:r>
              <a:rPr lang="ru-RU" sz="16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4. Если произошло «что-то другое»</a:t>
            </a:r>
          </a:p>
          <a:p>
            <a:pPr algn="l">
              <a:spcAft>
                <a:spcPts val="0"/>
              </a:spcAft>
            </a:pPr>
            <a:r>
              <a:rPr lang="ru-RU" sz="1400" b="0">
                <a:solidFill>
                  <a:srgbClr val="D9D6FA"/>
                </a:solidFill>
                <a:latin typeface="Nunito"/>
                <a:ea typeface="Nunito"/>
                <a:cs typeface="Nunito"/>
              </a:rPr>
              <a:t>разработчик-гарант теряет деньги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400800" y="868680"/>
            <a:ext cx="512064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ru-RU" sz="36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Люди, полигон </a:t>
            </a:r>
            <a:r>
              <a:rPr lang="ru-RU" sz="3600" dirty="0">
                <a:solidFill>
                  <a:srgbClr val="00C7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 гарантия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6400800" y="4069080"/>
            <a:ext cx="5029200" cy="2103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spcAft>
                <a:spcPts val="800"/>
              </a:spcAft>
              <a:lnSpc>
                <a:spcPct val="150000"/>
              </a:lnSpc>
              <a:buNone/>
            </a:pPr>
            <a:r>
              <a:rPr lang="ru-RU" sz="15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«ИИшка делает большую рутинную работу, но ответственность за конечный результат несёт человек»</a:t>
            </a:r>
          </a:p>
          <a:p>
            <a:pPr algn="l" indent="0" marL="0">
              <a:spcAft>
                <a:spcPts val="800"/>
              </a:spcAft>
              <a:lnSpc>
                <a:spcPct val="150000"/>
              </a:lnSpc>
              <a:buNone/>
            </a:pPr>
            <a:r>
              <a:rPr lang="ru-RU" sz="15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«Мы, как разработчики, несём финансовую ответственность опосредованно за этот результат»</a:t>
            </a:r>
          </a:p>
        </p:txBody>
      </p:sp>
      <p:sp>
        <p:nvSpPr>
          <p:cNvPr id="9" name="Shape 7"/>
          <p:cNvSpPr/>
          <p:nvPr/>
        </p:nvSpPr>
        <p:spPr>
          <a:xfrm>
            <a:off x="6400800" y="2194560"/>
            <a:ext cx="4937760" cy="1600200"/>
          </a:xfrm>
          <a:prstGeom prst="roundRect">
            <a:avLst>
              <a:gd name="adj" fmla="val 11852"/>
            </a:avLst>
          </a:prstGeom>
          <a:solidFill>
            <a:srgbClr val="4437E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2331720"/>
            <a:ext cx="45720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ru-RU" sz="3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 млн ₽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6583680" y="3017520"/>
            <a:ext cx="45720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ru-RU" sz="1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человеку на полигоне, если он заставит агента украсть данные вместо постройки банка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329184"/>
            <a:ext cx="1106424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ИБ · ИИ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835640" y="6217920"/>
            <a:ext cx="896112" cy="265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 indent="0" marL="0">
              <a:buNone/>
            </a:pPr>
            <a:r>
              <a:rPr lang="ru-RU" sz="11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11</a:t>
            </a:r>
          </a:p>
        </p:txBody>
      </p:sp>
      <p:sp>
        <p:nvSpPr>
          <p:cNvPr id="4" name="Shape 2"/>
          <p:cNvSpPr/>
          <p:nvPr/>
        </p:nvSpPr>
        <p:spPr>
          <a:xfrm>
            <a:off x="4297680" y="1828800"/>
            <a:ext cx="3566160" cy="3520440"/>
          </a:xfrm>
          <a:prstGeom prst="roundRect">
            <a:avLst>
              <a:gd name="adj" fmla="val 5000"/>
            </a:avLst>
          </a:prstGeom>
          <a:ln w="12700">
            <a:solidFill>
              <a:srgbClr val="ECEEF3"/>
            </a:solidFill>
            <a:prstDash val="solid"/>
          </a:ln>
        </p:spPr>
      </p:sp>
      <p:sp>
        <p:nvSpPr>
          <p:cNvPr id="206" name="Concept hdr"/>
          <p:cNvSpPr/>
          <p:nvPr/>
        </p:nvSpPr>
        <p:spPr>
          <a:xfrm>
            <a:off x="4480560" y="2011680"/>
            <a:ext cx="320040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lang="ru-RU" sz="1600" b="1">
                <a:solidFill>
                  <a:srgbClr val="262626"/>
                </a:solidFill>
                <a:latin typeface="Montserrat"/>
                <a:ea typeface="Montserrat"/>
                <a:cs typeface="Montserrat"/>
              </a:rPr>
              <a:t>Связь с концепциями</a:t>
            </a:r>
          </a:p>
        </p:txBody>
      </p:sp>
      <p:sp>
        <p:nvSpPr>
          <p:cNvPr id="207" name="Concept chip"/>
          <p:cNvSpPr/>
          <p:nvPr/>
        </p:nvSpPr>
        <p:spPr>
          <a:xfrm>
            <a:off x="4572000" y="2606040"/>
            <a:ext cx="3017520" cy="502920"/>
          </a:xfrm>
          <a:prstGeom prst="roundRect">
            <a:avLst>
              <a:gd name="adj" fmla="val 50000"/>
            </a:avLst>
          </a:prstGeom>
          <a:solidFill>
            <a:srgbClr val="EEEDFC"/>
          </a:solidFill>
          <a:ln>
            <a:noFill/>
          </a:ln>
        </p:spPr>
        <p:txBody>
          <a:bodyPr wrap="square" lIns="45720" rIns="45720" tIns="27432" bIns="27432" anchor="ctr"/>
          <a:lstStyle/>
          <a:p>
            <a:pPr algn="ctr">
              <a:spcAft>
                <a:spcPts val="0"/>
              </a:spcAft>
            </a:pPr>
            <a:r>
              <a:rPr lang="ru-RU" sz="14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AI alignment (intent alignment)</a:t>
            </a:r>
          </a:p>
        </p:txBody>
      </p:sp>
      <p:sp>
        <p:nvSpPr>
          <p:cNvPr id="208" name="Concept chip"/>
          <p:cNvSpPr/>
          <p:nvPr/>
        </p:nvSpPr>
        <p:spPr>
          <a:xfrm>
            <a:off x="4572000" y="3246120"/>
            <a:ext cx="3017520" cy="502920"/>
          </a:xfrm>
          <a:prstGeom prst="roundRect">
            <a:avLst>
              <a:gd name="adj" fmla="val 50000"/>
            </a:avLst>
          </a:prstGeom>
          <a:solidFill>
            <a:srgbClr val="F4F5FA"/>
          </a:solidFill>
          <a:ln>
            <a:noFill/>
          </a:ln>
        </p:spPr>
        <p:txBody>
          <a:bodyPr wrap="square" lIns="45720" rIns="45720" tIns="27432" bIns="27432" anchor="ctr"/>
          <a:lstStyle/>
          <a:p>
            <a:pPr algn="ctr">
              <a:spcAft>
                <a:spcPts val="0"/>
              </a:spcAft>
            </a:pPr>
            <a:r>
              <a:rPr lang="ru-RU" sz="14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Принципал — агент</a:t>
            </a:r>
          </a:p>
        </p:txBody>
      </p:sp>
      <p:sp>
        <p:nvSpPr>
          <p:cNvPr id="209" name="Concept chip"/>
          <p:cNvSpPr/>
          <p:nvPr/>
        </p:nvSpPr>
        <p:spPr>
          <a:xfrm>
            <a:off x="4572000" y="3886200"/>
            <a:ext cx="3017520" cy="502920"/>
          </a:xfrm>
          <a:prstGeom prst="roundRect">
            <a:avLst>
              <a:gd name="adj" fmla="val 50000"/>
            </a:avLst>
          </a:prstGeom>
          <a:solidFill>
            <a:srgbClr val="EEEDFC"/>
          </a:solidFill>
          <a:ln>
            <a:noFill/>
          </a:ln>
        </p:spPr>
        <p:txBody>
          <a:bodyPr wrap="square" lIns="45720" rIns="45720" tIns="27432" bIns="27432" anchor="ctr"/>
          <a:lstStyle/>
          <a:p>
            <a:pPr algn="ctr">
              <a:spcAft>
                <a:spcPts val="0"/>
              </a:spcAft>
            </a:pPr>
            <a:r>
              <a:rPr lang="ru-RU" sz="14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Human-on-the-loop</a:t>
            </a:r>
          </a:p>
        </p:txBody>
      </p:sp>
      <p:sp>
        <p:nvSpPr>
          <p:cNvPr id="210" name="Concept chip"/>
          <p:cNvSpPr/>
          <p:nvPr/>
        </p:nvSpPr>
        <p:spPr>
          <a:xfrm>
            <a:off x="4572000" y="4526279"/>
            <a:ext cx="3017520" cy="502920"/>
          </a:xfrm>
          <a:prstGeom prst="roundRect">
            <a:avLst>
              <a:gd name="adj" fmla="val 50000"/>
            </a:avLst>
          </a:prstGeom>
          <a:solidFill>
            <a:srgbClr val="F4F5FA"/>
          </a:solidFill>
          <a:ln>
            <a:noFill/>
          </a:ln>
        </p:spPr>
        <p:txBody>
          <a:bodyPr wrap="square" lIns="45720" rIns="45720" tIns="27432" bIns="27432" anchor="ctr"/>
          <a:lstStyle/>
          <a:p>
            <a:pPr algn="ctr">
              <a:spcAft>
                <a:spcPts val="0"/>
              </a:spcAft>
            </a:pPr>
            <a:r>
              <a:rPr lang="ru-RU" sz="14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Accountability (подотчётность)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005840" y="868680"/>
            <a:ext cx="1014984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buNone/>
            </a:pPr>
            <a:r>
              <a:rPr lang="ru-RU" sz="40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Критический </a:t>
            </a:r>
            <a:r>
              <a:rPr lang="ru-RU" sz="4000" dirty="0">
                <a:solidFill>
                  <a:srgbClr val="00C7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взгляд</a:t>
            </a:r>
          </a:p>
        </p:txBody>
      </p:sp>
      <p:sp>
        <p:nvSpPr>
          <p:cNvPr id="7" name="Shape 5"/>
          <p:cNvSpPr/>
          <p:nvPr/>
        </p:nvSpPr>
        <p:spPr>
          <a:xfrm>
            <a:off x="1005840" y="1828800"/>
            <a:ext cx="3108960" cy="3520440"/>
          </a:xfrm>
          <a:prstGeom prst="roundRect">
            <a:avLst>
              <a:gd name="adj" fmla="val 7111"/>
            </a:avLst>
          </a:prstGeom>
          <a:solidFill>
            <a:srgbClr val="4437E6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0" y="1828800"/>
            <a:ext cx="3108960" cy="352044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05840" y="5486400"/>
            <a:ext cx="1014984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ru-RU" sz="15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Итог: </a:t>
            </a:r>
            <a:r>
              <a:rPr lang="ru-RU" sz="15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верность — новое свойство безопасности поверх CIA, а не замена старых механизмов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169164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ru-RU" sz="1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Сильные стороны</a:t>
            </a:r>
          </a:p>
        </p:txBody>
      </p:sp>
      <p:sp>
        <p:nvSpPr>
          <p:cNvPr id="11" name="Shape 9"/>
          <p:cNvSpPr/>
          <p:nvPr/>
        </p:nvSpPr>
        <p:spPr>
          <a:xfrm>
            <a:off x="1216152" y="2061972"/>
            <a:ext cx="384048" cy="384048"/>
          </a:xfrm>
          <a:prstGeom prst="ellipse">
            <a:avLst>
              </a:avLst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ru-RU" sz="1800" b="1">
                <a:solidFill>
                  <a:srgbClr val="4437E6"/>
                </a:solidFill>
                <a:latin typeface="Montserrat"/>
                <a:ea typeface="Montserrat"/>
                <a:cs typeface="Montserrat"/>
              </a:rPr>
              <a:t>+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1188720" y="2606040"/>
            <a:ext cx="2743200" cy="265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>
              <a:spcAft>
                <a:spcPts val="900"/>
              </a:spcAft>
            </a:pPr>
            <a:r>
              <a:rPr lang="ru-RU" sz="1500" b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•  Позитивная постановка вместо списка запретов</a:t>
            </a:r>
          </a:p>
          <a:p>
            <a:pPr algn="l">
              <a:spcAft>
                <a:spcPts val="900"/>
              </a:spcAft>
            </a:pPr>
            <a:r>
              <a:rPr lang="ru-RU" sz="1500" b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•  Ответственность снова у человека</a:t>
            </a:r>
          </a:p>
          <a:p>
            <a:pPr algn="l">
              <a:spcAft>
                <a:spcPts val="900"/>
              </a:spcAft>
            </a:pPr>
            <a:r>
              <a:rPr lang="ru-RU" sz="1500" b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•  Состязательная проверка разными моделями</a:t>
            </a:r>
          </a:p>
          <a:p>
            <a:pPr algn="l">
              <a:spcAft>
                <a:spcPts val="900"/>
              </a:spcAft>
            </a:pPr>
            <a:r>
              <a:rPr lang="ru-RU" sz="1500" b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•  Безопасность измеряется деньгами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873252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buNone/>
            </a:pPr>
            <a:r>
              <a:rPr lang="ru-RU" sz="16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Слабые места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8229600" y="2606040"/>
            <a:ext cx="2743200" cy="265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>
              <a:spcAft>
                <a:spcPts val="900"/>
              </a:spcAft>
            </a:pPr>
            <a:r>
              <a:rPr lang="ru-RU" sz="15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•  Размыты «разумные границы»</a:t>
            </a:r>
          </a:p>
          <a:p>
            <a:pPr algn="l">
              <a:spcAft>
                <a:spcPts val="900"/>
              </a:spcAft>
            </a:pPr>
            <a:r>
              <a:rPr lang="ru-RU" sz="15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•  Проблема контролёра: общие слепые зоны</a:t>
            </a:r>
          </a:p>
          <a:p>
            <a:pPr algn="l">
              <a:spcAft>
                <a:spcPts val="900"/>
              </a:spcAft>
            </a:pPr>
            <a:r>
              <a:rPr lang="ru-RU" sz="15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•  Полигон ≠ прод</a:t>
            </a:r>
          </a:p>
          <a:p>
            <a:pPr algn="l">
              <a:spcAft>
                <a:spcPts val="900"/>
              </a:spcAft>
            </a:pPr>
            <a:r>
              <a:rPr lang="ru-RU" sz="15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•  Верный агент злого поручителя</a:t>
            </a:r>
          </a:p>
          <a:p>
            <a:pPr algn="l">
              <a:spcAft>
                <a:spcPts val="900"/>
              </a:spcAft>
            </a:pPr>
            <a:r>
              <a:rPr lang="ru-RU" sz="15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•  Финансовая гарантия конечна</a:t>
            </a:r>
          </a:p>
        </p:txBody>
      </p:sp>
      <p:sp>
        <p:nvSpPr>
          <p:cNvPr id="16" name="Shape 14"/>
          <p:cNvSpPr/>
          <p:nvPr/>
        </p:nvSpPr>
        <p:spPr>
          <a:xfrm>
            <a:off x="8211312" y="2061972"/>
            <a:ext cx="384048" cy="384048"/>
          </a:xfrm>
          <a:prstGeom prst="ellipse">
            <a:avLst>
              </a:avLst>
          </a:prstGeom>
          <a:solidFill>
            <a:srgbClr val="00C7AA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ru-RU"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–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329184"/>
            <a:ext cx="1106424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ИБ · ИИ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835640" y="6217920"/>
            <a:ext cx="896112" cy="265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 indent="0" marL="0">
              <a:buNone/>
            </a:pPr>
            <a:r>
              <a:rPr lang="ru-RU" sz="11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</a:t>
            </a:r>
          </a:p>
        </p:txBody>
      </p:sp>
      <p:sp>
        <p:nvSpPr>
          <p:cNvPr id="4" name="Shape 2"/>
          <p:cNvSpPr/>
          <p:nvPr/>
        </p:nvSpPr>
        <p:spPr>
          <a:xfrm>
            <a:off x="1527048" y="2606040"/>
            <a:ext cx="4434840" cy="3246120"/>
          </a:xfrm>
          <a:prstGeom prst="roundRect">
            <a:avLst>
              <a:gd name="adj" fmla="val 7224"/>
            </a:avLst>
          </a:prstGeom>
          <a:ln w="12700">
            <a:solidFill>
              <a:srgbClr val="ECEEF3"/>
            </a:solidFill>
            <a:prstDash val="solid"/>
          </a:ln>
        </p:spPr>
      </p:sp>
      <p:sp>
        <p:nvSpPr>
          <p:cNvPr id="212" name="Models hdr"/>
          <p:cNvSpPr/>
          <p:nvPr/>
        </p:nvSpPr>
        <p:spPr>
          <a:xfrm>
            <a:off x="1709928" y="2788920"/>
            <a:ext cx="4069079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lang="ru-RU" sz="1500" b="1">
                <a:solidFill>
                  <a:srgbClr val="262626"/>
                </a:solidFill>
                <a:latin typeface="Montserrat"/>
                <a:ea typeface="Montserrat"/>
                <a:cs typeface="Montserrat"/>
              </a:rPr>
              <a:t>Цикл повторяется с разными моделями</a:t>
            </a:r>
          </a:p>
        </p:txBody>
      </p:sp>
      <p:sp>
        <p:nvSpPr>
          <p:cNvPr id="213" name="Models chip"/>
          <p:cNvSpPr/>
          <p:nvPr/>
        </p:nvSpPr>
        <p:spPr>
          <a:xfrm>
            <a:off x="1801368" y="3383280"/>
            <a:ext cx="1874519" cy="640080"/>
          </a:xfrm>
          <a:prstGeom prst="roundRect">
            <a:avLst>
              <a:gd name="adj" fmla="val 50000"/>
            </a:avLst>
          </a:prstGeom>
          <a:solidFill>
            <a:srgbClr val="EEEDFC"/>
          </a:solidFill>
          <a:ln>
            <a:noFill/>
          </a:ln>
        </p:spPr>
        <p:txBody>
          <a:bodyPr wrap="square" lIns="45720" rIns="45720" tIns="27432" bIns="27432" anchor="ctr"/>
          <a:lstStyle/>
          <a:p>
            <a:pPr algn="ctr">
              <a:spcAft>
                <a:spcPts val="0"/>
              </a:spcAft>
            </a:pPr>
            <a:r>
              <a:rPr lang="ru-RU" sz="15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Фронтирные</a:t>
            </a:r>
          </a:p>
        </p:txBody>
      </p:sp>
      <p:sp>
        <p:nvSpPr>
          <p:cNvPr id="214" name="Models chip"/>
          <p:cNvSpPr/>
          <p:nvPr/>
        </p:nvSpPr>
        <p:spPr>
          <a:xfrm>
            <a:off x="3813048" y="3383280"/>
            <a:ext cx="1874519" cy="640080"/>
          </a:xfrm>
          <a:prstGeom prst="roundRect">
            <a:avLst>
              <a:gd name="adj" fmla="val 50000"/>
            </a:avLst>
          </a:prstGeom>
          <a:solidFill>
            <a:srgbClr val="F4F5FA"/>
          </a:solidFill>
          <a:ln>
            <a:noFill/>
          </a:ln>
        </p:spPr>
        <p:txBody>
          <a:bodyPr wrap="square" lIns="45720" rIns="45720" tIns="27432" bIns="27432" anchor="ctr"/>
          <a:lstStyle/>
          <a:p>
            <a:pPr algn="ctr">
              <a:spcAft>
                <a:spcPts val="0"/>
              </a:spcAft>
            </a:pPr>
            <a:r>
              <a:rPr lang="ru-RU" sz="15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Иностранные</a:t>
            </a:r>
          </a:p>
        </p:txBody>
      </p:sp>
      <p:sp>
        <p:nvSpPr>
          <p:cNvPr id="215" name="Models chip"/>
          <p:cNvSpPr/>
          <p:nvPr/>
        </p:nvSpPr>
        <p:spPr>
          <a:xfrm>
            <a:off x="1801368" y="4160520"/>
            <a:ext cx="1874519" cy="640080"/>
          </a:xfrm>
          <a:prstGeom prst="roundRect">
            <a:avLst>
              <a:gd name="adj" fmla="val 50000"/>
            </a:avLst>
          </a:prstGeom>
          <a:solidFill>
            <a:srgbClr val="F4F5FA"/>
          </a:solidFill>
          <a:ln>
            <a:noFill/>
          </a:ln>
        </p:spPr>
        <p:txBody>
          <a:bodyPr wrap="square" lIns="45720" rIns="45720" tIns="27432" bIns="27432" anchor="ctr"/>
          <a:lstStyle/>
          <a:p>
            <a:pPr algn="ctr">
              <a:spcAft>
                <a:spcPts val="0"/>
              </a:spcAft>
            </a:pPr>
            <a:r>
              <a:rPr lang="ru-RU" sz="15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Отечественные</a:t>
            </a:r>
          </a:p>
        </p:txBody>
      </p:sp>
      <p:sp>
        <p:nvSpPr>
          <p:cNvPr id="216" name="Models chip"/>
          <p:cNvSpPr/>
          <p:nvPr/>
        </p:nvSpPr>
        <p:spPr>
          <a:xfrm>
            <a:off x="3813048" y="4160520"/>
            <a:ext cx="1874519" cy="640080"/>
          </a:xfrm>
          <a:prstGeom prst="roundRect">
            <a:avLst>
              <a:gd name="adj" fmla="val 50000"/>
            </a:avLst>
          </a:prstGeom>
          <a:solidFill>
            <a:srgbClr val="EEEDFC"/>
          </a:solidFill>
          <a:ln>
            <a:noFill/>
          </a:ln>
        </p:spPr>
        <p:txBody>
          <a:bodyPr wrap="square" lIns="45720" rIns="45720" tIns="27432" bIns="27432" anchor="ctr"/>
          <a:lstStyle/>
          <a:p>
            <a:pPr algn="ctr">
              <a:spcAft>
                <a:spcPts val="0"/>
              </a:spcAft>
            </a:pPr>
            <a:r>
              <a:rPr lang="ru-RU" sz="15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Open source</a:t>
            </a:r>
          </a:p>
        </p:txBody>
      </p:sp>
      <p:sp>
        <p:nvSpPr>
          <p:cNvPr id="217" name="Models quote"/>
          <p:cNvSpPr/>
          <p:nvPr/>
        </p:nvSpPr>
        <p:spPr>
          <a:xfrm>
            <a:off x="1709928" y="4937760"/>
            <a:ext cx="4069079" cy="731520"/>
          </a:xfrm>
          <a:prstGeom prst="round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lang="ru-RU" sz="1400" b="0">
                <a:solidFill>
                  <a:srgbClr val="808080"/>
                </a:solidFill>
                <a:latin typeface="Nunito"/>
                <a:ea typeface="Nunito"/>
                <a:cs typeface="Nunito"/>
              </a:rPr>
              <a:t>«и фронтирные, и иностранные, и наши, и опенсорсовые»</a:t>
            </a:r>
          </a:p>
        </p:txBody>
      </p:sp>
      <p:sp>
        <p:nvSpPr>
          <p:cNvPr id="6" name="Shape 4"/>
          <p:cNvSpPr/>
          <p:nvPr/>
        </p:nvSpPr>
        <p:spPr>
          <a:xfrm>
            <a:off x="9308592" y="1517904"/>
            <a:ext cx="1225296" cy="1014984"/>
          </a:xfrm>
          <a:prstGeom prst="roundRect">
            <a:avLst>
              <a:gd name="adj" fmla="val 7207"/>
            </a:avLst>
          </a:prstGeom>
          <a:solidFill>
            <a:srgbClr val="4437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64208" y="1097280"/>
            <a:ext cx="7205472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ru-RU" sz="4400" dirty="0">
                <a:solidFill>
                  <a:srgbClr val="00C7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 </a:t>
            </a:r>
            <a:r>
              <a:rPr lang="ru-RU" sz="44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контролирует ИИ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6318504" y="2651760"/>
            <a:ext cx="438912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ru-RU" sz="13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«Эту задачу невозможно решить без самого ИИ»: если человеком анализировать каждое действие агента, «всё ломается»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6949440" y="3749040"/>
            <a:ext cx="3749039" cy="329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ru-RU" sz="1500" dirty="0">
                <a:solidFill>
                  <a:srgbClr val="404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ИИ-1 · Строитель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6949440" y="4572000"/>
            <a:ext cx="3749039" cy="329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ru-RU" sz="1500" dirty="0">
                <a:solidFill>
                  <a:srgbClr val="404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ИИ-2 · Атакующий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9317736" y="1645920"/>
            <a:ext cx="1197864" cy="7406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buNone/>
            </a:pPr>
            <a:r>
              <a:rPr lang="ru-RU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ИИ в цикле</a:t>
            </a:r>
          </a:p>
        </p:txBody>
      </p:sp>
      <p:sp>
        <p:nvSpPr>
          <p:cNvPr id="12" name="Shape 10"/>
          <p:cNvSpPr/>
          <p:nvPr/>
        </p:nvSpPr>
        <p:spPr>
          <a:xfrm>
            <a:off x="6373368" y="4617720"/>
            <a:ext cx="429768" cy="429768"/>
          </a:xfrm>
          <a:prstGeom prst="ellipse">
            <a:avLst/>
          </a:prstGeom>
          <a:solidFill>
            <a:srgbClr val="4437E6"/>
          </a:solidFill>
          <a:ln/>
        </p:spPr>
        <p:txBody>
          <a:bodyPr wrap="none" lIns="0" tIns="0" rIns="0" bIns="0" anchor="ctr"/>
          <a:lstStyle/>
          <a:p>
            <a:pPr algn="ctr"/>
            <a:r>
              <a:rPr lang="ru-RU"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207" name="Shape 10"/>
          <p:cNvSpPr/>
          <p:nvPr/>
        </p:nvSpPr>
        <p:spPr>
          <a:xfrm>
            <a:off x="6373368" y="5440680"/>
            <a:ext cx="429768" cy="429768"/>
          </a:xfrm>
          <a:prstGeom prst="ellipse">
            <a:avLst/>
          </a:prstGeom>
          <a:solidFill>
            <a:srgbClr val="4437E6"/>
          </a:solidFill>
          <a:ln/>
        </p:spPr>
        <p:txBody>
          <a:bodyPr wrap="none" lIns="0" tIns="0" rIns="0" bIns="0" anchor="ctr"/>
          <a:lstStyle/>
          <a:p>
            <a:pPr algn="ctr"/>
            <a:r>
              <a:rPr lang="ru-RU"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5" name="Shape 13"/>
          <p:cNvSpPr/>
          <p:nvPr/>
        </p:nvSpPr>
        <p:spPr>
          <a:xfrm>
            <a:off x="6373368" y="3794760"/>
            <a:ext cx="429768" cy="429768"/>
          </a:xfrm>
          <a:prstGeom prst="ellipse">
            <a:avLst/>
          </a:prstGeom>
          <a:solidFill>
            <a:srgbClr val="4437E6"/>
          </a:solidFill>
          <a:ln/>
        </p:spPr>
        <p:txBody>
          <a:bodyPr wrap="none" lIns="0" tIns="0" rIns="0" bIns="0" anchor="ctr"/>
          <a:lstStyle/>
          <a:p>
            <a:pPr algn="ctr"/>
            <a:r>
              <a:rPr lang="ru-RU"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8" name="Text 16"/>
          <p:cNvSpPr txBox="1"/>
          <p:nvPr/>
        </p:nvSpPr>
        <p:spPr>
          <a:xfrm>
            <a:off x="6949440" y="4069080"/>
            <a:ext cx="402336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ru-RU" sz="14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строит виртуальный банк</a:t>
            </a:r>
          </a:p>
        </p:txBody>
      </p:sp>
      <p:sp>
        <p:nvSpPr>
          <p:cNvPr id="19" name="Text 17"/>
          <p:cNvSpPr txBox="1"/>
          <p:nvPr/>
        </p:nvSpPr>
        <p:spPr>
          <a:xfrm>
            <a:off x="6949440" y="4892040"/>
            <a:ext cx="402336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ru-RU" sz="14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подмешивает промпт в инференс</a:t>
            </a:r>
          </a:p>
        </p:txBody>
      </p:sp>
      <p:sp>
        <p:nvSpPr>
          <p:cNvPr id="210" name="Text 8"/>
          <p:cNvSpPr txBox="1"/>
          <p:nvPr/>
        </p:nvSpPr>
        <p:spPr>
          <a:xfrm>
            <a:off x="6949440" y="5394960"/>
            <a:ext cx="3749039" cy="329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ru-RU" sz="1500" dirty="0">
                <a:solidFill>
                  <a:srgbClr val="404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ИИ-3 · Детектор</a:t>
            </a:r>
          </a:p>
        </p:txBody>
      </p:sp>
      <p:sp>
        <p:nvSpPr>
          <p:cNvPr id="211" name="Text 17"/>
          <p:cNvSpPr txBox="1"/>
          <p:nvPr/>
        </p:nvSpPr>
        <p:spPr>
          <a:xfrm>
            <a:off x="6949440" y="5715000"/>
            <a:ext cx="402336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ru-RU" sz="14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сеть, прокси, запросы, системные вызовы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329184"/>
            <a:ext cx="1106424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ИБ · ИИ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835640" y="6217920"/>
            <a:ext cx="896112" cy="265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 indent="0" marL="0">
              <a:buNone/>
            </a:pPr>
            <a:r>
              <a:rPr lang="ru-RU" sz="11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</a:p>
        </p:txBody>
      </p:sp>
      <p:sp>
        <p:nvSpPr>
          <p:cNvPr id="4" name="Shape 2"/>
          <p:cNvSpPr/>
          <p:nvPr/>
        </p:nvSpPr>
        <p:spPr>
          <a:xfrm>
            <a:off x="1261872" y="1600200"/>
            <a:ext cx="9674352" cy="3291840"/>
          </a:xfrm>
          <a:prstGeom prst="roundRect">
            <a:avLst>
              <a:gd name="adj" fmla="val 6918"/>
            </a:avLst>
          </a:prstGeom>
          <a:ln w="12700">
            <a:solidFill>
              <a:srgbClr val="ECEE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00200" y="1645920"/>
            <a:ext cx="9006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ru-RU" sz="21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«С приходом ИИ обновляется природа безопасности: появляется гарантия верности машины поручению и замыслу человека, который, в свою очередь, принимает ответственность за результат ее деятельности.»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261872" y="777240"/>
            <a:ext cx="9674352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buNone/>
            </a:pPr>
            <a:r>
              <a:rPr lang="ru-RU" sz="32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Тезис: </a:t>
            </a:r>
            <a:r>
              <a:rPr lang="ru-RU" sz="3200" dirty="0">
                <a:solidFill>
                  <a:srgbClr val="00C7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новая природа безопасности</a:t>
            </a:r>
          </a:p>
        </p:txBody>
      </p:sp>
      <p:sp>
        <p:nvSpPr>
          <p:cNvPr id="7" name="Shape 5"/>
          <p:cNvSpPr/>
          <p:nvPr/>
        </p:nvSpPr>
        <p:spPr>
          <a:xfrm>
            <a:off x="1426464" y="3867912"/>
            <a:ext cx="2916936" cy="2093976"/>
          </a:xfrm>
          <a:prstGeom prst="roundRect">
            <a:avLst>
              <a:gd name="adj" fmla="val 6987"/>
            </a:avLst>
          </a:prstGeom>
          <a:solidFill>
            <a:srgbClr val="4437E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340864" y="4151376"/>
            <a:ext cx="2057400" cy="3383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ru-RU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Поручение и замысел</a:t>
            </a:r>
          </a:p>
        </p:txBody>
      </p:sp>
      <p:sp>
        <p:nvSpPr>
          <p:cNvPr id="9" name="Shape 7"/>
          <p:cNvSpPr/>
          <p:nvPr/>
        </p:nvSpPr>
        <p:spPr>
          <a:xfrm>
            <a:off x="1755648" y="4087368"/>
            <a:ext cx="466344" cy="4663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91640" y="4745736"/>
            <a:ext cx="2414016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ru-RU" sz="1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Человек ставит задачу и задаёт её смысл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1691640" y="4151376"/>
            <a:ext cx="603504" cy="3383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27264" y="3867912"/>
            <a:ext cx="2916936" cy="2093976"/>
          </a:xfrm>
          <a:prstGeom prst="roundRect">
            <a:avLst>
              <a:gd name="adj" fmla="val 7424"/>
            </a:avLst>
          </a:prstGeom>
          <a:solidFill>
            <a:srgbClr val="4437E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741664" y="4151376"/>
            <a:ext cx="2057400" cy="3383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ru-RU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Ответственность</a:t>
            </a:r>
          </a:p>
        </p:txBody>
      </p:sp>
      <p:sp>
        <p:nvSpPr>
          <p:cNvPr id="14" name="Shape 12"/>
          <p:cNvSpPr/>
          <p:nvPr/>
        </p:nvSpPr>
        <p:spPr>
          <a:xfrm>
            <a:off x="8156448" y="4087368"/>
            <a:ext cx="466344" cy="4663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92440" y="4745736"/>
            <a:ext cx="2414016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ru-RU" sz="1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Человек принимает ответственность за результат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8092440" y="4160520"/>
            <a:ext cx="603504" cy="3383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36008" y="3867912"/>
            <a:ext cx="2916936" cy="2093976"/>
          </a:xfrm>
          <a:prstGeom prst="roundRect">
            <a:avLst>
              <a:gd name="adj" fmla="val 7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83480" y="4087368"/>
            <a:ext cx="466344" cy="466344"/>
          </a:xfrm>
          <a:prstGeom prst="ellipse">
            <a:avLst/>
          </a:prstGeom>
          <a:solidFill>
            <a:srgbClr val="00C7A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19472" y="4745736"/>
            <a:ext cx="2414016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ru-RU" sz="13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Соразмерно поручению и в разумных границах</a:t>
            </a:r>
          </a:p>
        </p:txBody>
      </p:sp>
      <p:sp>
        <p:nvSpPr>
          <p:cNvPr id="20" name="Text 18"/>
          <p:cNvSpPr txBox="1"/>
          <p:nvPr/>
        </p:nvSpPr>
        <p:spPr>
          <a:xfrm>
            <a:off x="4919472" y="4151376"/>
            <a:ext cx="603504" cy="3383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632704" y="4151376"/>
            <a:ext cx="2057400" cy="3383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ru-RU" sz="14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Верность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329184"/>
            <a:ext cx="1106424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ИБ · ИИ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835640" y="6217920"/>
            <a:ext cx="896112" cy="265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 indent="0" marL="0">
              <a:buNone/>
            </a:pPr>
            <a:r>
              <a:rPr lang="ru-RU" sz="11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</a:t>
            </a:r>
          </a:p>
        </p:txBody>
      </p:sp>
      <p:sp>
        <p:nvSpPr>
          <p:cNvPr id="4" name="Shape 2"/>
          <p:cNvSpPr/>
          <p:nvPr/>
        </p:nvSpPr>
        <p:spPr>
          <a:xfrm>
            <a:off x="1481328" y="3200400"/>
            <a:ext cx="5175504" cy="2743200"/>
          </a:xfrm>
          <a:prstGeom prst="roundRect">
            <a:avLst>
              <a:gd name="adj" fmla="val 8520"/>
            </a:avLst>
          </a:prstGeom>
          <a:ln w="12700">
            <a:solidFill>
              <a:srgbClr val="ECEEF3"/>
            </a:solidFill>
            <a:prstDash val="solid"/>
          </a:ln>
        </p:spPr>
      </p:sp>
      <p:graphicFrame>
        <p:nvGraphicFramePr>
          <p:cNvPr id="201" name="Compare table"/>
          <p:cNvGraphicFramePr>
            <a:graphicFrameLocks noGrp="1"/>
          </p:cNvGraphicFramePr>
          <p:nvPr/>
        </p:nvGraphicFramePr>
        <p:xfrm>
          <a:off x="1481328" y="3200400"/>
          <a:ext cx="5175504" cy="2743200"/>
        </p:xfrm>
        <a:graphic>
          <a:graphicData uri="http://schemas.openxmlformats.org/drawingml/2006/table">
            <a:tbl>
              <a:tblPr firstRow="1" bandRow="1"/>
              <a:tblGrid>
                <a:gridCol w="1371600"/>
                <a:gridCol w="1737360"/>
                <a:gridCol w="2066543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Измерение</a:t>
                      </a:r>
                    </a:p>
                  </a:txBody>
                  <a:tcPr marL="82296" marR="82296" marT="45720" marB="4572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4437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Классическая ИБ</a:t>
                      </a:r>
                    </a:p>
                  </a:txBody>
                  <a:tcPr marL="82296" marR="82296" marT="45720" marB="4572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4437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ИИ-агенты</a:t>
                      </a:r>
                    </a:p>
                  </a:txBody>
                  <a:tcPr marL="82296" marR="82296" marT="45720" marB="4572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4437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</a:rPr>
                        <a:t>Инструмент</a:t>
                      </a:r>
                    </a:p>
                  </a:txBody>
                  <a:tcPr marL="82296" marR="82296" marT="45720" marB="4572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solidFill>
                            <a:srgbClr val="262626"/>
                          </a:solidFill>
                          <a:latin typeface="Nunito"/>
                          <a:ea typeface="Nunito"/>
                          <a:cs typeface="Nunito"/>
                        </a:rPr>
                        <a:t>Запреты: ACL, периметр, политики</a:t>
                      </a:r>
                    </a:p>
                  </a:txBody>
                  <a:tcPr marL="82296" marR="82296" marT="45720" marB="4572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solidFill>
                            <a:srgbClr val="262626"/>
                          </a:solidFill>
                          <a:latin typeface="Nunito"/>
                          <a:ea typeface="Nunito"/>
                          <a:cs typeface="Nunito"/>
                        </a:rPr>
                        <a:t>Поручение, мониторинг, состязательные тесты</a:t>
                      </a:r>
                    </a:p>
                  </a:txBody>
                  <a:tcPr marL="82296" marR="82296" marT="45720" marB="4572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6FA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</a:rPr>
                        <a:t>Угрозы</a:t>
                      </a:r>
                    </a:p>
                  </a:txBody>
                  <a:tcPr marL="82296" marR="82296" marT="45720" marB="4572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solidFill>
                            <a:srgbClr val="262626"/>
                          </a:solidFill>
                          <a:latin typeface="Nunito"/>
                          <a:ea typeface="Nunito"/>
                          <a:cs typeface="Nunito"/>
                        </a:rPr>
                        <a:t>Нарушитель, инсайдер, уязвимость ПО</a:t>
                      </a:r>
                    </a:p>
                  </a:txBody>
                  <a:tcPr marL="82296" marR="82296" marT="45720" marB="4572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solidFill>
                            <a:srgbClr val="262626"/>
                          </a:solidFill>
                          <a:latin typeface="Nunito"/>
                          <a:ea typeface="Nunito"/>
                          <a:cs typeface="Nunito"/>
                        </a:rPr>
                        <a:t>+ prompt injection, «самодеятельность» агента</a:t>
                      </a:r>
                    </a:p>
                  </a:txBody>
                  <a:tcPr marL="82296" marR="82296" marT="45720" marB="4572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6FA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</a:rPr>
                        <a:t>Кто отвечает</a:t>
                      </a:r>
                    </a:p>
                  </a:txBody>
                  <a:tcPr marL="82296" marR="82296" marT="45720" marB="4572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solidFill>
                            <a:srgbClr val="262626"/>
                          </a:solidFill>
                          <a:latin typeface="Nunito"/>
                          <a:ea typeface="Nunito"/>
                          <a:cs typeface="Nunito"/>
                        </a:rPr>
                        <a:t>Владелец системы</a:t>
                      </a:r>
                    </a:p>
                  </a:txBody>
                  <a:tcPr marL="82296" marR="82296" marT="45720" marB="4572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solidFill>
                            <a:srgbClr val="262626"/>
                          </a:solidFill>
                          <a:latin typeface="Nunito"/>
                          <a:ea typeface="Nunito"/>
                          <a:cs typeface="Nunito"/>
                        </a:rPr>
                        <a:t>Человек-поручитель + разработчик-гарант</a:t>
                      </a:r>
                    </a:p>
                  </a:txBody>
                  <a:tcPr marL="82296" marR="82296" marT="45720" marB="4572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6FA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solidFill>
                            <a:srgbClr val="262626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Проверка</a:t>
                      </a:r>
                    </a:p>
                  </a:txBody>
                  <a:tcPr marL="82296" marR="82296" marT="45720" marB="4572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solidFill>
                            <a:srgbClr val="262626"/>
                          </a:solidFill>
                          <a:latin typeface="Nunito"/>
                          <a:ea typeface="Nunito"/>
                          <a:cs typeface="Nunito"/>
                        </a:rPr>
                        <a:t>Аудит соответствия</a:t>
                      </a:r>
                    </a:p>
                  </a:txBody>
                  <a:tcPr marL="82296" marR="82296" marT="45720" marB="4572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solidFill>
                            <a:srgbClr val="262626"/>
                          </a:solidFill>
                          <a:latin typeface="Nunito"/>
                          <a:ea typeface="Nunito"/>
                          <a:cs typeface="Nunito"/>
                        </a:rPr>
                        <a:t>«Попробуй сломать за вознаграждение»</a:t>
                      </a:r>
                    </a:p>
                  </a:txBody>
                  <a:tcPr marL="82296" marR="82296" marT="45720" marB="4572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6FAF6"/>
                    </a:solidFill>
                  </a:tcPr>
                </a:tc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6885432" y="1097280"/>
            <a:ext cx="3831336" cy="2276856"/>
          </a:xfrm>
          <a:prstGeom prst="roundRect">
            <a:avLst>
              <a:gd name="adj" fmla="val 8835"/>
            </a:avLst>
          </a:prstGeom>
          <a:ln w="12700">
            <a:solidFill>
              <a:srgbClr val="ECEEF3"/>
            </a:solidFill>
            <a:prstDash val="solid"/>
          </a:ln>
        </p:spPr>
      </p:sp>
      <p:sp>
        <p:nvSpPr>
          <p:cNvPr id="202" name="CIA chip"/>
          <p:cNvSpPr/>
          <p:nvPr/>
        </p:nvSpPr>
        <p:spPr>
          <a:xfrm>
            <a:off x="7159752" y="1252728"/>
            <a:ext cx="3282696" cy="411480"/>
          </a:xfrm>
          <a:prstGeom prst="roundRect">
            <a:avLst>
              <a:gd name="adj" fmla="val 50000"/>
            </a:avLst>
          </a:prstGeom>
          <a:solidFill>
            <a:srgbClr val="F4F5FA"/>
          </a:solidFill>
          <a:ln>
            <a:noFill/>
          </a:ln>
        </p:spPr>
        <p:txBody>
          <a:bodyPr wrap="square" lIns="45720" rIns="45720" tIns="27432" bIns="27432" anchor="ctr"/>
          <a:lstStyle/>
          <a:p>
            <a:pPr algn="ctr">
              <a:spcAft>
                <a:spcPts val="0"/>
              </a:spcAft>
            </a:pPr>
            <a:r>
              <a:rPr lang="ru-RU" sz="14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Конфиденциальность</a:t>
            </a:r>
          </a:p>
        </p:txBody>
      </p:sp>
      <p:sp>
        <p:nvSpPr>
          <p:cNvPr id="203" name="CIA chip"/>
          <p:cNvSpPr/>
          <p:nvPr/>
        </p:nvSpPr>
        <p:spPr>
          <a:xfrm>
            <a:off x="7159752" y="1755648"/>
            <a:ext cx="3282696" cy="411480"/>
          </a:xfrm>
          <a:prstGeom prst="roundRect">
            <a:avLst>
              <a:gd name="adj" fmla="val 50000"/>
            </a:avLst>
          </a:prstGeom>
          <a:solidFill>
            <a:srgbClr val="F4F5FA"/>
          </a:solidFill>
          <a:ln>
            <a:noFill/>
          </a:ln>
        </p:spPr>
        <p:txBody>
          <a:bodyPr wrap="square" lIns="45720" rIns="45720" tIns="27432" bIns="27432" anchor="ctr"/>
          <a:lstStyle/>
          <a:p>
            <a:pPr algn="ctr">
              <a:spcAft>
                <a:spcPts val="0"/>
              </a:spcAft>
            </a:pPr>
            <a:r>
              <a:rPr lang="ru-RU" sz="14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Целостность</a:t>
            </a:r>
          </a:p>
        </p:txBody>
      </p:sp>
      <p:sp>
        <p:nvSpPr>
          <p:cNvPr id="204" name="CIA chip"/>
          <p:cNvSpPr/>
          <p:nvPr/>
        </p:nvSpPr>
        <p:spPr>
          <a:xfrm>
            <a:off x="7159752" y="2258568"/>
            <a:ext cx="3282696" cy="411480"/>
          </a:xfrm>
          <a:prstGeom prst="roundRect">
            <a:avLst>
              <a:gd name="adj" fmla="val 50000"/>
            </a:avLst>
          </a:prstGeom>
          <a:solidFill>
            <a:srgbClr val="F4F5FA"/>
          </a:solidFill>
          <a:ln>
            <a:noFill/>
          </a:ln>
        </p:spPr>
        <p:txBody>
          <a:bodyPr wrap="square" lIns="45720" rIns="45720" tIns="27432" bIns="27432" anchor="ctr"/>
          <a:lstStyle/>
          <a:p>
            <a:pPr algn="ctr">
              <a:spcAft>
                <a:spcPts val="0"/>
              </a:spcAft>
            </a:pPr>
            <a:r>
              <a:rPr lang="ru-RU" sz="14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Доступность</a:t>
            </a:r>
          </a:p>
        </p:txBody>
      </p:sp>
      <p:sp>
        <p:nvSpPr>
          <p:cNvPr id="205" name="CIA chip"/>
          <p:cNvSpPr/>
          <p:nvPr/>
        </p:nvSpPr>
        <p:spPr>
          <a:xfrm>
            <a:off x="7159752" y="2761488"/>
            <a:ext cx="3282696" cy="411480"/>
          </a:xfrm>
          <a:prstGeom prst="roundRect">
            <a:avLst>
              <a:gd name="adj" fmla="val 50000"/>
            </a:avLst>
          </a:prstGeom>
          <a:solidFill>
            <a:srgbClr val="00C7AA"/>
          </a:solidFill>
          <a:ln>
            <a:noFill/>
          </a:ln>
        </p:spPr>
        <p:txBody>
          <a:bodyPr wrap="square" lIns="45720" rIns="45720" tIns="27432" bIns="27432" anchor="ctr"/>
          <a:lstStyle/>
          <a:p>
            <a:pPr algn="ctr">
              <a:spcAft>
                <a:spcPts val="0"/>
              </a:spcAft>
            </a:pPr>
            <a:r>
              <a:rPr lang="ru-RU" sz="1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+ Верность поручению</a:t>
            </a:r>
          </a:p>
        </p:txBody>
      </p:sp>
      <p:sp>
        <p:nvSpPr>
          <p:cNvPr id="8" name="Shape 6"/>
          <p:cNvSpPr/>
          <p:nvPr/>
        </p:nvSpPr>
        <p:spPr>
          <a:xfrm>
            <a:off x="8915400" y="3593592"/>
            <a:ext cx="1801368" cy="2039112"/>
          </a:xfrm>
          <a:prstGeom prst="roundRect">
            <a:avLst>
              <a:gd name="adj" fmla="val 10660"/>
            </a:avLst>
          </a:prstGeom>
          <a:solidFill>
            <a:srgbClr val="4437E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81328" y="1097280"/>
            <a:ext cx="5303520" cy="1005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ru-RU" sz="32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Старая и новая модель </a:t>
            </a:r>
            <a:r>
              <a:rPr lang="ru-RU" sz="3200" dirty="0">
                <a:solidFill>
                  <a:srgbClr val="00C7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рядом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1481328" y="2148840"/>
            <a:ext cx="5120640" cy="868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ru-RU" sz="15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Вывод: </a:t>
            </a:r>
            <a:r>
              <a:rPr lang="ru-RU" sz="15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верность — это целостность исполнения поручения, новый слой поверх CIA</a:t>
            </a:r>
          </a:p>
        </p:txBody>
      </p:sp>
      <p:sp>
        <p:nvSpPr>
          <p:cNvPr id="11" name="Shape 9"/>
          <p:cNvSpPr/>
          <p:nvPr/>
        </p:nvSpPr>
        <p:spPr>
          <a:xfrm>
            <a:off x="6885432" y="3575304"/>
            <a:ext cx="1801368" cy="2039112"/>
          </a:xfrm>
          <a:prstGeom prst="roundRect">
            <a:avLst>
              <a:gd name="adj" fmla="val 106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976872" y="4709160"/>
            <a:ext cx="1618488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ru-RU" sz="13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защищает данные и системы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6931152" y="4343400"/>
            <a:ext cx="1709928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buNone/>
            </a:pPr>
            <a:r>
              <a:rPr lang="ru-RU" sz="14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Старая модель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9006840" y="4709160"/>
            <a:ext cx="1618488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ru-RU" sz="1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+ намерение: поручение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8961120" y="4343400"/>
            <a:ext cx="1709928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buNone/>
            </a:pPr>
            <a:r>
              <a:rPr lang="ru-RU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Новая модель</a:t>
            </a:r>
          </a:p>
        </p:txBody>
      </p:sp>
      <p:sp>
        <p:nvSpPr>
          <p:cNvPr id="16" name="Shape 14"/>
          <p:cNvSpPr/>
          <p:nvPr/>
        </p:nvSpPr>
        <p:spPr>
          <a:xfrm>
            <a:off x="7543800" y="3749040"/>
            <a:ext cx="466344" cy="466344"/>
          </a:xfrm>
          <a:prstGeom prst="ellipse">
            <a:avLst/>
          </a:prstGeom>
          <a:solidFill>
            <a:srgbClr val="00C7AA"/>
          </a:solidFill>
          <a:ln/>
        </p:spPr>
        <p:txBody>
          <a:bodyPr wrap="none" lIns="0" tIns="0" rIns="0" bIns="0" anchor="ctr"/>
          <a:lstStyle/>
          <a:p>
            <a:pPr algn="ctr"/>
            <a:r>
              <a:rPr lang="ru-RU" sz="1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CIA</a:t>
            </a:r>
          </a:p>
        </p:txBody>
      </p:sp>
      <p:sp>
        <p:nvSpPr>
          <p:cNvPr id="17" name="Shape 15"/>
          <p:cNvSpPr/>
          <p:nvPr/>
        </p:nvSpPr>
        <p:spPr>
          <a:xfrm>
            <a:off x="9582912" y="3749040"/>
            <a:ext cx="466344" cy="466344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lIns="0" tIns="0" rIns="0" bIns="0" anchor="ctr"/>
          <a:lstStyle/>
          <a:p>
            <a:pPr algn="ctr"/>
            <a:r>
              <a:rPr lang="ru-RU" sz="1300" b="1">
                <a:solidFill>
                  <a:srgbClr val="4437E6"/>
                </a:solidFill>
                <a:latin typeface="Montserrat"/>
                <a:ea typeface="Montserrat"/>
                <a:cs typeface="Montserrat"/>
              </a:rPr>
              <a:t>+1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329184"/>
            <a:ext cx="1106424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ИБ · ИИ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835640" y="6217920"/>
            <a:ext cx="896112" cy="265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 indent="0" marL="0">
              <a:buNone/>
            </a:pPr>
            <a:r>
              <a:rPr lang="ru-RU" sz="11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</a:t>
            </a:r>
          </a:p>
        </p:txBody>
      </p:sp>
      <p:sp>
        <p:nvSpPr>
          <p:cNvPr id="4" name="Shape 2"/>
          <p:cNvSpPr/>
          <p:nvPr/>
        </p:nvSpPr>
        <p:spPr>
          <a:xfrm>
            <a:off x="3172968" y="950976"/>
            <a:ext cx="7443216" cy="2944368"/>
          </a:xfrm>
          <a:prstGeom prst="roundRect">
            <a:avLst>
              <a:gd name="adj" fmla="val 7764"/>
            </a:avLst>
          </a:prstGeom>
          <a:ln w="12700">
            <a:solidFill>
              <a:srgbClr val="ECEEF3"/>
            </a:solidFill>
            <a:prstDash val="solid"/>
          </a:ln>
        </p:spPr>
      </p:sp>
      <p:sp>
        <p:nvSpPr>
          <p:cNvPr id="201" name="Roles human"/>
          <p:cNvSpPr/>
          <p:nvPr/>
        </p:nvSpPr>
        <p:spPr>
          <a:xfrm>
            <a:off x="3931920" y="1188720"/>
            <a:ext cx="2743200" cy="2468880"/>
          </a:xfrm>
          <a:prstGeom prst="roundRect">
            <a:avLst/>
          </a:prstGeom>
          <a:solidFill>
            <a:srgbClr val="F4F5FA"/>
          </a:solidFill>
          <a:ln>
            <a:noFill/>
          </a:ln>
        </p:spPr>
        <p:txBody>
          <a:bodyPr wrap="square" lIns="182880" rIns="182880" tIns="109728" bIns="109728" anchor="t"/>
          <a:lstStyle/>
          <a:p>
            <a:pPr algn="l">
              <a:spcAft>
                <a:spcPts val="600"/>
              </a:spcAft>
            </a:pPr>
            <a:r>
              <a:rPr lang="ru-RU" sz="1600" b="1">
                <a:solidFill>
                  <a:srgbClr val="4437E6"/>
                </a:solidFill>
                <a:latin typeface="Montserrat"/>
                <a:ea typeface="Montserrat"/>
                <a:cs typeface="Montserrat"/>
              </a:rPr>
              <a:t>Человек</a:t>
            </a:r>
          </a:p>
          <a:p>
            <a:pPr algn="l">
              <a:spcAft>
                <a:spcPts val="200"/>
              </a:spcAft>
            </a:pPr>
            <a:r>
              <a:rPr lang="ru-RU" sz="15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Замысел</a:t>
            </a:r>
          </a:p>
          <a:p>
            <a:pPr algn="l">
              <a:spcAft>
                <a:spcPts val="200"/>
              </a:spcAft>
            </a:pPr>
            <a:r>
              <a:rPr lang="ru-RU" sz="15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Поручение</a:t>
            </a:r>
          </a:p>
          <a:p>
            <a:pPr algn="l">
              <a:spcAft>
                <a:spcPts val="0"/>
              </a:spcAft>
            </a:pPr>
            <a:r>
              <a:rPr lang="ru-RU" sz="15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Ответственность за результат</a:t>
            </a:r>
          </a:p>
        </p:txBody>
      </p:sp>
      <p:sp>
        <p:nvSpPr>
          <p:cNvPr id="202" name="Roles agent"/>
          <p:cNvSpPr/>
          <p:nvPr/>
        </p:nvSpPr>
        <p:spPr>
          <a:xfrm>
            <a:off x="7680960" y="1188720"/>
            <a:ext cx="2743200" cy="2468880"/>
          </a:xfrm>
          <a:prstGeom prst="roundRect">
            <a:avLst/>
          </a:prstGeom>
          <a:solidFill>
            <a:srgbClr val="E6FAF6"/>
          </a:solidFill>
          <a:ln>
            <a:noFill/>
          </a:ln>
        </p:spPr>
        <p:txBody>
          <a:bodyPr wrap="square" lIns="182880" rIns="182880" tIns="109728" bIns="109728" anchor="t"/>
          <a:lstStyle/>
          <a:p>
            <a:pPr algn="l">
              <a:spcAft>
                <a:spcPts val="600"/>
              </a:spcAft>
            </a:pPr>
            <a:r>
              <a:rPr lang="ru-RU" sz="1600" b="1">
                <a:solidFill>
                  <a:srgbClr val="00977F"/>
                </a:solidFill>
                <a:latin typeface="Montserrat"/>
                <a:ea typeface="Montserrat"/>
                <a:cs typeface="Montserrat"/>
              </a:rPr>
              <a:t>ИИ-агент</a:t>
            </a:r>
          </a:p>
          <a:p>
            <a:pPr algn="l">
              <a:spcAft>
                <a:spcPts val="200"/>
              </a:spcAft>
            </a:pPr>
            <a:r>
              <a:rPr lang="ru-RU" sz="15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Исполнение</a:t>
            </a:r>
          </a:p>
          <a:p>
            <a:pPr algn="l">
              <a:spcAft>
                <a:spcPts val="0"/>
              </a:spcAft>
            </a:pPr>
            <a:r>
              <a:rPr lang="ru-RU" sz="15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Верность поручению и замыслу</a:t>
            </a:r>
          </a:p>
        </p:txBody>
      </p:sp>
      <p:cxnSp>
        <p:nvCxnSpPr>
          <p:cNvPr id="203" name="Roles arrow 1"/>
          <p:cNvCxnSpPr/>
          <p:nvPr/>
        </p:nvCxnSpPr>
        <p:spPr>
          <a:xfrm>
            <a:off x="6766560" y="2011680"/>
            <a:ext cx="822960" cy="0"/>
          </a:xfrm>
          <a:prstGeom prst="line">
            <a:avLst/>
          </a:prstGeom>
          <a:ln w="19050">
            <a:solidFill>
              <a:srgbClr val="4437E6"/>
            </a:solidFill>
            <a:tailEnd type="triangle" w="med" len="med"/>
          </a:ln>
        </p:spPr>
      </p:cxnSp>
      <p:cxnSp>
        <p:nvCxnSpPr>
          <p:cNvPr id="204" name="Roles arrow 2"/>
          <p:cNvCxnSpPr/>
          <p:nvPr/>
        </p:nvCxnSpPr>
        <p:spPr>
          <a:xfrm flipH="1">
            <a:off x="6766560" y="3017520"/>
            <a:ext cx="822960" cy="0"/>
          </a:xfrm>
          <a:prstGeom prst="line">
            <a:avLst/>
          </a:prstGeom>
          <a:ln w="19050">
            <a:solidFill>
              <a:srgbClr val="00977F"/>
            </a:solidFill>
            <a:tailEnd type="triangle" w="med" len="med"/>
          </a:ln>
        </p:spPr>
      </p:cxnSp>
      <p:sp>
        <p:nvSpPr>
          <p:cNvPr id="205" name="Roles lbl 1"/>
          <p:cNvSpPr/>
          <p:nvPr/>
        </p:nvSpPr>
        <p:spPr>
          <a:xfrm>
            <a:off x="6629400" y="1600200"/>
            <a:ext cx="109728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lang="ru-RU" sz="1200" b="0">
                <a:solidFill>
                  <a:srgbClr val="808080"/>
                </a:solidFill>
                <a:latin typeface="Nunito"/>
                <a:ea typeface="Nunito"/>
                <a:cs typeface="Nunito"/>
              </a:rPr>
              <a:t>поручает</a:t>
            </a:r>
          </a:p>
        </p:txBody>
      </p:sp>
      <p:sp>
        <p:nvSpPr>
          <p:cNvPr id="206" name="Roles lbl 2"/>
          <p:cNvSpPr/>
          <p:nvPr/>
        </p:nvSpPr>
        <p:spPr>
          <a:xfrm>
            <a:off x="6629400" y="3063240"/>
            <a:ext cx="109728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ctr">
              <a:spcAft>
                <a:spcPts val="0"/>
              </a:spcAft>
            </a:pPr>
            <a:r>
              <a:rPr lang="ru-RU" sz="1200" b="0">
                <a:solidFill>
                  <a:srgbClr val="808080"/>
                </a:solidFill>
                <a:latin typeface="Nunito"/>
                <a:ea typeface="Nunito"/>
                <a:cs typeface="Nunito"/>
              </a:rPr>
              <a:t>результат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7406640" y="4754880"/>
            <a:ext cx="3291840" cy="1417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spcAft>
                <a:spcPts val="400"/>
              </a:spcAft>
              <a:lnSpc>
                <a:spcPct val="150000"/>
              </a:lnSpc>
              <a:buNone/>
            </a:pPr>
            <a:r>
              <a:rPr lang="ru-RU" sz="14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Полнота: </a:t>
            </a:r>
            <a:r>
              <a:rPr lang="ru-RU" sz="14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«делал всё то, что соразмерно тому, что я поручил»</a:t>
            </a:r>
          </a:p>
          <a:p>
            <a:pPr algn="l" indent="0" marL="0">
              <a:spcAft>
                <a:spcPts val="400"/>
              </a:spcAft>
              <a:lnSpc>
                <a:spcPct val="150000"/>
              </a:lnSpc>
              <a:buNone/>
            </a:pPr>
            <a:r>
              <a:rPr lang="ru-RU" sz="14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Соразмерность: </a:t>
            </a:r>
            <a:r>
              <a:rPr lang="ru-RU" sz="14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«не делал того, что выходит за разумные границы»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7406640" y="4343400"/>
            <a:ext cx="329184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ru-RU" sz="16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Полнота и соразмерность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1545336" y="4343400"/>
            <a:ext cx="5577840" cy="1554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ru-RU" sz="36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Новая задача: </a:t>
            </a:r>
            <a:r>
              <a:rPr lang="ru-RU" sz="3600" dirty="0">
                <a:solidFill>
                  <a:srgbClr val="00C7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верность поручению</a:t>
            </a:r>
          </a:p>
        </p:txBody>
      </p:sp>
      <p:sp>
        <p:nvSpPr>
          <p:cNvPr id="9" name="Shape 7"/>
          <p:cNvSpPr/>
          <p:nvPr/>
        </p:nvSpPr>
        <p:spPr>
          <a:xfrm>
            <a:off x="1545336" y="1344168"/>
            <a:ext cx="2093976" cy="2377440"/>
          </a:xfrm>
          <a:prstGeom prst="roundRect">
            <a:avLst>
              <a:gd name="adj" fmla="val 7424"/>
            </a:avLst>
          </a:prstGeom>
          <a:solidFill>
            <a:srgbClr val="4437E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719072" y="1609344"/>
            <a:ext cx="1755648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ru-RU" sz="1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Задача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1719072" y="1965960"/>
            <a:ext cx="1828800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ru-RU" sz="1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«Нам нужно сделать так, чтобы агент был верен моему поручению»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329184"/>
            <a:ext cx="1106424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ИБ · ИИ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835640" y="6217920"/>
            <a:ext cx="896112" cy="265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 indent="0" marL="0">
              <a:buNone/>
            </a:pPr>
            <a:r>
              <a:rPr lang="ru-RU" sz="11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</a:t>
            </a:r>
          </a:p>
        </p:txBody>
      </p:sp>
      <p:sp>
        <p:nvSpPr>
          <p:cNvPr id="4" name="Shape 2"/>
          <p:cNvSpPr/>
          <p:nvPr/>
        </p:nvSpPr>
        <p:spPr>
          <a:xfrm>
            <a:off x="6190488" y="3355848"/>
            <a:ext cx="4526280" cy="2249424"/>
          </a:xfrm>
          <a:prstGeom prst="roundRect">
            <a:avLst>
              <a:gd name="adj" fmla="val 7724"/>
            </a:avLst>
          </a:prstGeom>
          <a:ln w="12700">
            <a:solidFill>
              <a:srgbClr val="ECEE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90488" y="3355848"/>
            <a:ext cx="4526280" cy="2249424"/>
          </a:xfrm>
          <a:prstGeom prst="rect">
            <a:avLst/>
          </a:prstGeom>
          <a:noFill/>
          <a:ln/>
        </p:spPr>
        <p:txBody>
          <a:bodyPr wrap="square" lIns="320040" tIns="0" rIns="320040" bIns="0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ru-RU" sz="2000" dirty="0">
                <a:solidFill>
                  <a:srgbClr val="00C7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</a:t>
            </a:r>
            <a:r>
              <a:rPr lang="ru-RU" sz="20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Старые подходы ограничений ты в ИИшке применить не можешь</a:t>
            </a:r>
            <a:r>
              <a:rPr lang="ru-RU" sz="2000" dirty="0">
                <a:solidFill>
                  <a:srgbClr val="00C7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»</a:t>
            </a:r>
          </a:p>
          <a:p>
            <a:pPr algn="l" indent="0" marL="0">
              <a:spcAft>
                <a:spcPts val="800"/>
              </a:spcAft>
              <a:buNone/>
            </a:pPr>
            <a:r>
              <a:rPr lang="ru-RU" sz="140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Юрий Максимов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472184" y="3886200"/>
            <a:ext cx="4389120" cy="1737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ru-RU" sz="15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Жёсткие ограничения — права доступа, песочницы, лимиты — остаются нижним слоем. Не работают запреты как основа безопасности агента.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1472184" y="3429000"/>
            <a:ext cx="438912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ru-RU" sz="16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остаётся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1472184" y="1188720"/>
            <a:ext cx="4937760" cy="1737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ru-RU" sz="36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Запреты </a:t>
            </a:r>
            <a:r>
              <a:rPr lang="ru-RU" sz="3600" dirty="0">
                <a:solidFill>
                  <a:srgbClr val="00C7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работают</a:t>
            </a:r>
            <a:r>
              <a:rPr lang="ru-RU" sz="36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 агентами</a:t>
            </a:r>
          </a:p>
        </p:txBody>
      </p:sp>
      <p:sp>
        <p:nvSpPr>
          <p:cNvPr id="9" name="Shape 7"/>
          <p:cNvSpPr/>
          <p:nvPr/>
        </p:nvSpPr>
        <p:spPr>
          <a:xfrm>
            <a:off x="6720840" y="2450592"/>
            <a:ext cx="4005072" cy="539496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20840" y="1225296"/>
            <a:ext cx="4005072" cy="539496"/>
          </a:xfrm>
          <a:prstGeom prst="roundRect">
            <a:avLst>
              <a:gd name="adj" fmla="val 10169"/>
            </a:avLst>
          </a:prstGeom>
          <a:solidFill>
            <a:srgbClr val="4437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75704" y="1325880"/>
            <a:ext cx="484632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214616" y="1298448"/>
            <a:ext cx="3739896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ru-RU" sz="1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Безопасник: «применим наши подходы»</a:t>
            </a:r>
          </a:p>
        </p:txBody>
      </p:sp>
      <p:sp>
        <p:nvSpPr>
          <p:cNvPr id="13" name="Shape 11"/>
          <p:cNvSpPr/>
          <p:nvPr/>
        </p:nvSpPr>
        <p:spPr>
          <a:xfrm>
            <a:off x="6720840" y="1837944"/>
            <a:ext cx="4005072" cy="539496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75704" y="1938528"/>
            <a:ext cx="484632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C7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214616" y="1901952"/>
            <a:ext cx="3739896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ru-RU" sz="13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«Агенту нельзя будет делать это, это и это»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6775704" y="2551176"/>
            <a:ext cx="484632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C7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214616" y="2514600"/>
            <a:ext cx="3739896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ru-RU" sz="13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Агент «начинает тупить»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329184"/>
            <a:ext cx="1106424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ИБ · ИИ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835640" y="6217920"/>
            <a:ext cx="896112" cy="265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 indent="0" marL="0">
              <a:buNone/>
            </a:pPr>
            <a:r>
              <a:rPr lang="ru-RU" sz="11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12</a:t>
            </a:r>
          </a:p>
        </p:txBody>
      </p:sp>
      <p:sp>
        <p:nvSpPr>
          <p:cNvPr id="4" name="Shape 2"/>
          <p:cNvSpPr/>
          <p:nvPr/>
        </p:nvSpPr>
        <p:spPr>
          <a:xfrm>
            <a:off x="1188720" y="1097280"/>
            <a:ext cx="3931920" cy="4937760"/>
          </a:xfrm>
          <a:prstGeom prst="roundRect">
            <a:avLst>
              <a:gd name="adj" fmla="val 6061"/>
            </a:avLst>
          </a:prstGeom>
          <a:ln w="12700">
            <a:solidFill>
              <a:srgbClr val="ECEEF3"/>
            </a:solidFill>
            <a:prstDash val="solid"/>
          </a:ln>
        </p:spPr>
      </p:sp>
      <p:sp>
        <p:nvSpPr>
          <p:cNvPr id="213" name="Phase hdr"/>
          <p:cNvSpPr/>
          <p:nvPr/>
        </p:nvSpPr>
        <p:spPr>
          <a:xfrm>
            <a:off x="1371600" y="1234439"/>
            <a:ext cx="3566160" cy="411480"/>
          </a:xfrm>
          <a:prstGeom prst="round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</a:pPr>
            <a:r>
              <a:rPr lang="ru-RU" sz="1600" b="1">
                <a:solidFill>
                  <a:srgbClr val="262626"/>
                </a:solidFill>
                <a:latin typeface="Montserrat"/>
                <a:ea typeface="Montserrat"/>
                <a:cs typeface="Montserrat"/>
              </a:rPr>
              <a:t>Фазы 0–6</a:t>
            </a:r>
          </a:p>
        </p:txBody>
      </p:sp>
      <p:sp>
        <p:nvSpPr>
          <p:cNvPr id="214" name="Phase row"/>
          <p:cNvSpPr/>
          <p:nvPr/>
        </p:nvSpPr>
        <p:spPr>
          <a:xfrm>
            <a:off x="1371600" y="1737360"/>
            <a:ext cx="3566160" cy="530352"/>
          </a:xfrm>
          <a:prstGeom prst="roundRect">
            <a:avLst>
              <a:gd name="adj" fmla="val 20000"/>
            </a:avLst>
          </a:prstGeom>
          <a:solidFill>
            <a:srgbClr val="EEEDFC"/>
          </a:solidFill>
          <a:ln>
            <a:noFill/>
          </a:ln>
        </p:spPr>
        <p:txBody>
          <a:bodyPr wrap="square" lIns="109728" rIns="109728" tIns="65836" bIns="65836" anchor="ctr"/>
          <a:lstStyle/>
          <a:p>
            <a:pPr algn="l">
              <a:spcAft>
                <a:spcPts val="0"/>
              </a:spcAft>
            </a:pPr>
            <a:r>
              <a:rPr lang="ru-RU" sz="1400" b="1">
                <a:solidFill>
                  <a:srgbClr val="4437E6"/>
                </a:solidFill>
                <a:latin typeface="Montserrat"/>
                <a:ea typeface="Montserrat"/>
                <a:cs typeface="Montserrat"/>
              </a:rPr>
              <a:t>0  </a:t>
            </a:r>
            <a:r>
              <a:rPr lang="ru-RU" sz="14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Реестр и владельцы</a:t>
            </a:r>
          </a:p>
        </p:txBody>
      </p:sp>
      <p:sp>
        <p:nvSpPr>
          <p:cNvPr id="215" name="Phase time"/>
          <p:cNvSpPr/>
          <p:nvPr/>
        </p:nvSpPr>
        <p:spPr>
          <a:xfrm>
            <a:off x="3794759" y="1737360"/>
            <a:ext cx="1005840" cy="530352"/>
          </a:xfrm>
          <a:prstGeom prst="round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</a:pPr>
            <a:r>
              <a:rPr lang="ru-RU" sz="1200" b="0">
                <a:solidFill>
                  <a:srgbClr val="808080"/>
                </a:solidFill>
                <a:latin typeface="Nunito"/>
                <a:ea typeface="Nunito"/>
                <a:cs typeface="Nunito"/>
              </a:rPr>
              <a:t>нед. 1–2</a:t>
            </a:r>
          </a:p>
        </p:txBody>
      </p:sp>
      <p:sp>
        <p:nvSpPr>
          <p:cNvPr id="216" name="Phase row"/>
          <p:cNvSpPr/>
          <p:nvPr/>
        </p:nvSpPr>
        <p:spPr>
          <a:xfrm>
            <a:off x="1371600" y="2331720"/>
            <a:ext cx="3566160" cy="530352"/>
          </a:xfrm>
          <a:prstGeom prst="roundRect">
            <a:avLst>
              <a:gd name="adj" fmla="val 20000"/>
            </a:avLst>
          </a:prstGeom>
          <a:solidFill>
            <a:srgbClr val="F4F5FA"/>
          </a:solidFill>
          <a:ln>
            <a:noFill/>
          </a:ln>
        </p:spPr>
        <p:txBody>
          <a:bodyPr wrap="square" lIns="109728" rIns="109728" tIns="65836" bIns="65836" anchor="ctr"/>
          <a:lstStyle/>
          <a:p>
            <a:pPr algn="l">
              <a:spcAft>
                <a:spcPts val="0"/>
              </a:spcAft>
            </a:pPr>
            <a:r>
              <a:rPr lang="ru-RU" sz="1400" b="1">
                <a:solidFill>
                  <a:srgbClr val="4437E6"/>
                </a:solidFill>
                <a:latin typeface="Montserrat"/>
                <a:ea typeface="Montserrat"/>
                <a:cs typeface="Montserrat"/>
              </a:rPr>
              <a:t>1  </a:t>
            </a:r>
            <a:r>
              <a:rPr lang="ru-RU" sz="14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Модель угроз и поручение</a:t>
            </a:r>
          </a:p>
        </p:txBody>
      </p:sp>
      <p:sp>
        <p:nvSpPr>
          <p:cNvPr id="217" name="Phase time"/>
          <p:cNvSpPr/>
          <p:nvPr/>
        </p:nvSpPr>
        <p:spPr>
          <a:xfrm>
            <a:off x="3794759" y="2331720"/>
            <a:ext cx="1005840" cy="530352"/>
          </a:xfrm>
          <a:prstGeom prst="round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</a:pPr>
            <a:r>
              <a:rPr lang="ru-RU" sz="1200" b="0">
                <a:solidFill>
                  <a:srgbClr val="808080"/>
                </a:solidFill>
                <a:latin typeface="Nunito"/>
                <a:ea typeface="Nunito"/>
                <a:cs typeface="Nunito"/>
              </a:rPr>
              <a:t>нед. 2–5</a:t>
            </a:r>
          </a:p>
        </p:txBody>
      </p:sp>
      <p:sp>
        <p:nvSpPr>
          <p:cNvPr id="218" name="Phase row"/>
          <p:cNvSpPr/>
          <p:nvPr/>
        </p:nvSpPr>
        <p:spPr>
          <a:xfrm>
            <a:off x="1371600" y="2926079"/>
            <a:ext cx="3566160" cy="530352"/>
          </a:xfrm>
          <a:prstGeom prst="roundRect">
            <a:avLst>
              <a:gd name="adj" fmla="val 20000"/>
            </a:avLst>
          </a:prstGeom>
          <a:solidFill>
            <a:srgbClr val="F4F5FA"/>
          </a:solidFill>
          <a:ln>
            <a:noFill/>
          </a:ln>
        </p:spPr>
        <p:txBody>
          <a:bodyPr wrap="square" lIns="109728" rIns="109728" tIns="65836" bIns="65836" anchor="ctr"/>
          <a:lstStyle/>
          <a:p>
            <a:pPr algn="l">
              <a:spcAft>
                <a:spcPts val="0"/>
              </a:spcAft>
            </a:pPr>
            <a:r>
              <a:rPr lang="ru-RU" sz="1400" b="1">
                <a:solidFill>
                  <a:srgbClr val="4437E6"/>
                </a:solidFill>
                <a:latin typeface="Montserrat"/>
                <a:ea typeface="Montserrat"/>
                <a:cs typeface="Montserrat"/>
              </a:rPr>
              <a:t>2  </a:t>
            </a:r>
            <a:r>
              <a:rPr lang="ru-RU" sz="14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Ограничения и телеметрия</a:t>
            </a:r>
          </a:p>
        </p:txBody>
      </p:sp>
      <p:sp>
        <p:nvSpPr>
          <p:cNvPr id="219" name="Phase time"/>
          <p:cNvSpPr/>
          <p:nvPr/>
        </p:nvSpPr>
        <p:spPr>
          <a:xfrm>
            <a:off x="3794759" y="2926079"/>
            <a:ext cx="1005840" cy="530352"/>
          </a:xfrm>
          <a:prstGeom prst="round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</a:pPr>
            <a:r>
              <a:rPr lang="ru-RU" sz="1200" b="0">
                <a:solidFill>
                  <a:srgbClr val="808080"/>
                </a:solidFill>
                <a:latin typeface="Nunito"/>
                <a:ea typeface="Nunito"/>
                <a:cs typeface="Nunito"/>
              </a:rPr>
              <a:t>нед. 4–8</a:t>
            </a:r>
          </a:p>
        </p:txBody>
      </p:sp>
      <p:sp>
        <p:nvSpPr>
          <p:cNvPr id="220" name="Phase row"/>
          <p:cNvSpPr/>
          <p:nvPr/>
        </p:nvSpPr>
        <p:spPr>
          <a:xfrm>
            <a:off x="1371600" y="3520439"/>
            <a:ext cx="3566160" cy="530352"/>
          </a:xfrm>
          <a:prstGeom prst="roundRect">
            <a:avLst>
              <a:gd name="adj" fmla="val 20000"/>
            </a:avLst>
          </a:prstGeom>
          <a:solidFill>
            <a:srgbClr val="F4F5FA"/>
          </a:solidFill>
          <a:ln>
            <a:noFill/>
          </a:ln>
        </p:spPr>
        <p:txBody>
          <a:bodyPr wrap="square" lIns="109728" rIns="109728" tIns="65836" bIns="65836" anchor="ctr"/>
          <a:lstStyle/>
          <a:p>
            <a:pPr algn="l">
              <a:spcAft>
                <a:spcPts val="0"/>
              </a:spcAft>
            </a:pPr>
            <a:r>
              <a:rPr lang="ru-RU" sz="1400" b="1">
                <a:solidFill>
                  <a:srgbClr val="4437E6"/>
                </a:solidFill>
                <a:latin typeface="Montserrat"/>
                <a:ea typeface="Montserrat"/>
                <a:cs typeface="Montserrat"/>
              </a:rPr>
              <a:t>3  </a:t>
            </a:r>
            <a:r>
              <a:rPr lang="ru-RU" sz="14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ИИ-контроль верности</a:t>
            </a:r>
          </a:p>
        </p:txBody>
      </p:sp>
      <p:sp>
        <p:nvSpPr>
          <p:cNvPr id="221" name="Phase time"/>
          <p:cNvSpPr/>
          <p:nvPr/>
        </p:nvSpPr>
        <p:spPr>
          <a:xfrm>
            <a:off x="3794759" y="3520439"/>
            <a:ext cx="1005840" cy="530352"/>
          </a:xfrm>
          <a:prstGeom prst="round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</a:pPr>
            <a:r>
              <a:rPr lang="ru-RU" sz="1200" b="0">
                <a:solidFill>
                  <a:srgbClr val="808080"/>
                </a:solidFill>
                <a:latin typeface="Nunito"/>
                <a:ea typeface="Nunito"/>
                <a:cs typeface="Nunito"/>
              </a:rPr>
              <a:t>нед. 6–12</a:t>
            </a:r>
          </a:p>
        </p:txBody>
      </p:sp>
      <p:sp>
        <p:nvSpPr>
          <p:cNvPr id="222" name="Phase row"/>
          <p:cNvSpPr/>
          <p:nvPr/>
        </p:nvSpPr>
        <p:spPr>
          <a:xfrm>
            <a:off x="1371600" y="4114800"/>
            <a:ext cx="3566160" cy="530352"/>
          </a:xfrm>
          <a:prstGeom prst="roundRect">
            <a:avLst>
              <a:gd name="adj" fmla="val 20000"/>
            </a:avLst>
          </a:prstGeom>
          <a:solidFill>
            <a:srgbClr val="F4F5FA"/>
          </a:solidFill>
          <a:ln>
            <a:noFill/>
          </a:ln>
        </p:spPr>
        <p:txBody>
          <a:bodyPr wrap="square" lIns="109728" rIns="109728" tIns="65836" bIns="65836" anchor="ctr"/>
          <a:lstStyle/>
          <a:p>
            <a:pPr algn="l">
              <a:spcAft>
                <a:spcPts val="0"/>
              </a:spcAft>
            </a:pPr>
            <a:r>
              <a:rPr lang="ru-RU" sz="1400" b="1">
                <a:solidFill>
                  <a:srgbClr val="4437E6"/>
                </a:solidFill>
                <a:latin typeface="Montserrat"/>
                <a:ea typeface="Montserrat"/>
                <a:cs typeface="Montserrat"/>
              </a:rPr>
              <a:t>4  </a:t>
            </a:r>
            <a:r>
              <a:rPr lang="ru-RU" sz="14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Состязательный цикл</a:t>
            </a:r>
          </a:p>
        </p:txBody>
      </p:sp>
      <p:sp>
        <p:nvSpPr>
          <p:cNvPr id="223" name="Phase time"/>
          <p:cNvSpPr/>
          <p:nvPr/>
        </p:nvSpPr>
        <p:spPr>
          <a:xfrm>
            <a:off x="3794759" y="4114800"/>
            <a:ext cx="1005840" cy="530352"/>
          </a:xfrm>
          <a:prstGeom prst="round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</a:pPr>
            <a:r>
              <a:rPr lang="ru-RU" sz="1200" b="0">
                <a:solidFill>
                  <a:srgbClr val="808080"/>
                </a:solidFill>
                <a:latin typeface="Nunito"/>
                <a:ea typeface="Nunito"/>
                <a:cs typeface="Nunito"/>
              </a:rPr>
              <a:t>нед. 8–16</a:t>
            </a:r>
          </a:p>
        </p:txBody>
      </p:sp>
      <p:sp>
        <p:nvSpPr>
          <p:cNvPr id="224" name="Phase row"/>
          <p:cNvSpPr/>
          <p:nvPr/>
        </p:nvSpPr>
        <p:spPr>
          <a:xfrm>
            <a:off x="1371600" y="4709160"/>
            <a:ext cx="3566160" cy="530352"/>
          </a:xfrm>
          <a:prstGeom prst="roundRect">
            <a:avLst>
              <a:gd name="adj" fmla="val 20000"/>
            </a:avLst>
          </a:prstGeom>
          <a:solidFill>
            <a:srgbClr val="F4F5FA"/>
          </a:solidFill>
          <a:ln>
            <a:noFill/>
          </a:ln>
        </p:spPr>
        <p:txBody>
          <a:bodyPr wrap="square" lIns="109728" rIns="109728" tIns="65836" bIns="65836" anchor="ctr"/>
          <a:lstStyle/>
          <a:p>
            <a:pPr algn="l">
              <a:spcAft>
                <a:spcPts val="0"/>
              </a:spcAft>
            </a:pPr>
            <a:r>
              <a:rPr lang="ru-RU" sz="1400" b="1">
                <a:solidFill>
                  <a:srgbClr val="4437E6"/>
                </a:solidFill>
                <a:latin typeface="Montserrat"/>
                <a:ea typeface="Montserrat"/>
                <a:cs typeface="Montserrat"/>
              </a:rPr>
              <a:t>5  </a:t>
            </a:r>
            <a:r>
              <a:rPr lang="ru-RU" sz="14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Bug bounty и гарантии</a:t>
            </a:r>
          </a:p>
        </p:txBody>
      </p:sp>
      <p:sp>
        <p:nvSpPr>
          <p:cNvPr id="225" name="Phase time"/>
          <p:cNvSpPr/>
          <p:nvPr/>
        </p:nvSpPr>
        <p:spPr>
          <a:xfrm>
            <a:off x="3794759" y="4709160"/>
            <a:ext cx="1005840" cy="530352"/>
          </a:xfrm>
          <a:prstGeom prst="round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</a:pPr>
            <a:r>
              <a:rPr lang="ru-RU" sz="1200" b="0">
                <a:solidFill>
                  <a:srgbClr val="808080"/>
                </a:solidFill>
                <a:latin typeface="Nunito"/>
                <a:ea typeface="Nunito"/>
                <a:cs typeface="Nunito"/>
              </a:rPr>
              <a:t>мес. 4–6</a:t>
            </a:r>
          </a:p>
        </p:txBody>
      </p:sp>
      <p:sp>
        <p:nvSpPr>
          <p:cNvPr id="226" name="Phase row"/>
          <p:cNvSpPr/>
          <p:nvPr/>
        </p:nvSpPr>
        <p:spPr>
          <a:xfrm>
            <a:off x="1371600" y="5303520"/>
            <a:ext cx="3566160" cy="530352"/>
          </a:xfrm>
          <a:prstGeom prst="roundRect">
            <a:avLst>
              <a:gd name="adj" fmla="val 20000"/>
            </a:avLst>
          </a:prstGeom>
          <a:solidFill>
            <a:srgbClr val="F4F5FA"/>
          </a:solidFill>
          <a:ln>
            <a:noFill/>
          </a:ln>
        </p:spPr>
        <p:txBody>
          <a:bodyPr wrap="square" lIns="109728" rIns="109728" tIns="65836" bIns="65836" anchor="ctr"/>
          <a:lstStyle/>
          <a:p>
            <a:pPr algn="l">
              <a:spcAft>
                <a:spcPts val="0"/>
              </a:spcAft>
            </a:pPr>
            <a:r>
              <a:rPr lang="ru-RU" sz="1400" b="1">
                <a:solidFill>
                  <a:srgbClr val="4437E6"/>
                </a:solidFill>
                <a:latin typeface="Montserrat"/>
                <a:ea typeface="Montserrat"/>
                <a:cs typeface="Montserrat"/>
              </a:rPr>
              <a:t>6  </a:t>
            </a:r>
            <a:r>
              <a:rPr lang="ru-RU" sz="14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Эксплуатация</a:t>
            </a:r>
          </a:p>
        </p:txBody>
      </p:sp>
      <p:sp>
        <p:nvSpPr>
          <p:cNvPr id="227" name="Phase time"/>
          <p:cNvSpPr/>
          <p:nvPr/>
        </p:nvSpPr>
        <p:spPr>
          <a:xfrm>
            <a:off x="3794759" y="5303520"/>
            <a:ext cx="1005840" cy="530352"/>
          </a:xfrm>
          <a:prstGeom prst="round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</a:pPr>
            <a:r>
              <a:rPr lang="ru-RU" sz="1200" b="0">
                <a:solidFill>
                  <a:srgbClr val="808080"/>
                </a:solidFill>
                <a:latin typeface="Nunito"/>
                <a:ea typeface="Nunito"/>
                <a:cs typeface="Nunito"/>
              </a:rPr>
              <a:t>постоянно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5541264" y="1051560"/>
            <a:ext cx="5760720" cy="128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ru-RU" sz="36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делать: </a:t>
            </a:r>
            <a:r>
              <a:rPr lang="ru-RU" sz="3600" dirty="0">
                <a:solidFill>
                  <a:srgbClr val="00C7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на 6 месяцев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5541264" y="4343400"/>
            <a:ext cx="1783080" cy="1051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ru-RU" sz="14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Составить реестр ИИ-агентов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5541264" y="3337560"/>
            <a:ext cx="548640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ru-RU" sz="16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Три действия на завтра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7443216" y="4343400"/>
            <a:ext cx="1783080" cy="1051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ru-RU" sz="14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Назначить владельца каждому агенту</a:t>
            </a:r>
          </a:p>
        </p:txBody>
      </p:sp>
      <p:sp>
        <p:nvSpPr>
          <p:cNvPr id="211" name="Text 6b"/>
          <p:cNvSpPr txBox="1"/>
          <p:nvPr/>
        </p:nvSpPr>
        <p:spPr>
          <a:xfrm>
            <a:off x="5541264" y="3794760"/>
            <a:ext cx="813816" cy="5212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00C7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7443216" y="3794760"/>
            <a:ext cx="813816" cy="5212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00C7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02.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9336024" y="4343400"/>
            <a:ext cx="1783080" cy="1051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ru-RU" sz="14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Выдавать права на задачу, а не на агента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9336024" y="3794760"/>
            <a:ext cx="813816" cy="5212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00C7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03.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5541264" y="2423160"/>
            <a:ext cx="557784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ru-RU" sz="14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Безопасность строится вокруг поручения; CIA, least privilege и сегментация остаются нижним слоем.</a:t>
            </a:r>
          </a:p>
        </p:txBody>
      </p:sp>
      <p:sp>
        <p:nvSpPr>
          <p:cNvPr id="212" name="Repo link"/>
          <p:cNvSpPr txBox="1"/>
          <p:nvPr/>
        </p:nvSpPr>
        <p:spPr>
          <a:xfrm>
            <a:off x="5541264" y="5486400"/>
            <a:ext cx="576072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ru-RU" sz="12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Подробный план: </a:t>
            </a:r>
            <a:r>
              <a:rPr lang="ru-RU" sz="1200" dirty="0">
                <a:solidFill>
                  <a:srgbClr val="4437E6"/>
                </a:solidFill>
                <a:latin typeface="Nunito" pitchFamily="34" charset="0"/>
                <a:ea typeface="Nunito" pitchFamily="34" charset="-122"/>
                <a:cs typeface="Nunito" pitchFamily="34" charset="-120"/>
                <a:hlinkClick r:id="rIdG4Link"/>
              </a:rPr>
              <a:t>github.com/cuthbertnogood/ai-security-fidelity-yury-1300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329184"/>
            <a:ext cx="1106424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ИБ · ИИ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835640" y="6217920"/>
            <a:ext cx="896112" cy="265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 indent="0" marL="0">
              <a:buNone/>
            </a:pPr>
            <a:r>
              <a:rPr lang="ru-RU" sz="11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</a:p>
        </p:txBody>
      </p:sp>
      <p:sp>
        <p:nvSpPr>
          <p:cNvPr id="4" name="Shape 2"/>
          <p:cNvSpPr/>
          <p:nvPr/>
        </p:nvSpPr>
        <p:spPr>
          <a:xfrm>
            <a:off x="-18288" y="850392"/>
            <a:ext cx="4343400" cy="5166360"/>
          </a:xfrm>
          <a:prstGeom prst="rect">
            <a:avLst/>
          </a:prstGeom>
          <a:ln w="12700">
            <a:solidFill>
              <a:srgbClr val="ECEEF3"/>
            </a:solidFill>
            <a:prstDash val="solid"/>
          </a:ln>
        </p:spPr>
      </p:sp>
      <p:sp>
        <p:nvSpPr>
          <p:cNvPr id="41" name="Venn A"/>
          <p:cNvSpPr/>
          <p:nvPr/>
        </p:nvSpPr>
        <p:spPr>
          <a:xfrm>
            <a:off x="502920" y="1143000"/>
            <a:ext cx="1828800" cy="1828800"/>
          </a:xfrm>
          <a:prstGeom prst="ellipse">
            <a:avLst/>
          </a:prstGeom>
          <a:solidFill>
            <a:srgbClr val="4437E6">
              <a:alpha val="22000"/>
            </a:srgbClr>
          </a:solidFill>
          <a:ln>
            <a:noFill/>
          </a:ln>
        </p:spPr>
        <p:txBody>
          <a:bodyPr wrap="none" lIns="0" tIns="0" rIns="457200" bIns="320040" anchor="ctr"/>
          <a:lstStyle/>
          <a:p>
            <a:pPr algn="ctr"/>
            <a:r>
              <a:rPr lang="ru-RU" sz="1200" b="0">
                <a:solidFill>
                  <a:srgbClr val="262626"/>
                </a:solidFill>
                <a:latin typeface="Montserrat"/>
                <a:ea typeface="Montserrat"/>
                <a:cs typeface="Montserrat"/>
              </a:rPr>
              <a:t>Удобство</a:t>
            </a:r>
          </a:p>
        </p:txBody>
      </p:sp>
      <p:sp>
        <p:nvSpPr>
          <p:cNvPr id="42" name="Venn B"/>
          <p:cNvSpPr/>
          <p:nvPr/>
        </p:nvSpPr>
        <p:spPr>
          <a:xfrm>
            <a:off x="1874519" y="1143000"/>
            <a:ext cx="1828800" cy="1828800"/>
          </a:xfrm>
          <a:prstGeom prst="ellipse">
            <a:avLst/>
          </a:prstGeom>
          <a:solidFill>
            <a:srgbClr val="00C7AA">
              <a:alpha val="25000"/>
            </a:srgbClr>
          </a:solidFill>
          <a:ln>
            <a:noFill/>
          </a:ln>
        </p:spPr>
        <p:txBody>
          <a:bodyPr wrap="none" lIns="566928" tIns="0" rIns="0" bIns="320040" anchor="ctr"/>
          <a:lstStyle/>
          <a:p>
            <a:pPr algn="ctr"/>
            <a:r>
              <a:rPr lang="ru-RU" sz="1200" b="0">
                <a:solidFill>
                  <a:srgbClr val="262626"/>
                </a:solidFill>
                <a:latin typeface="Montserrat"/>
                <a:ea typeface="Montserrat"/>
                <a:cs typeface="Montserrat"/>
              </a:rPr>
              <a:t>Эффективность</a:t>
            </a:r>
          </a:p>
        </p:txBody>
      </p:sp>
      <p:sp>
        <p:nvSpPr>
          <p:cNvPr id="43" name="Venn C"/>
          <p:cNvSpPr/>
          <p:nvPr/>
        </p:nvSpPr>
        <p:spPr>
          <a:xfrm>
            <a:off x="1188720" y="2148840"/>
            <a:ext cx="1828800" cy="1828800"/>
          </a:xfrm>
          <a:prstGeom prst="ellipse">
            <a:avLst/>
          </a:prstGeom>
          <a:solidFill>
            <a:srgbClr val="262626">
              <a:alpha val="12000"/>
            </a:srgbClr>
          </a:solidFill>
          <a:ln>
            <a:noFill/>
          </a:ln>
        </p:spPr>
        <p:txBody>
          <a:bodyPr wrap="none" lIns="0" tIns="502920" rIns="0" bIns="0" anchor="ctr"/>
          <a:lstStyle/>
          <a:p>
            <a:pPr algn="ctr"/>
            <a:r>
              <a:rPr lang="ru-RU" sz="1200" b="0">
                <a:solidFill>
                  <a:srgbClr val="262626"/>
                </a:solidFill>
                <a:latin typeface="Montserrat"/>
                <a:ea typeface="Montserrat"/>
                <a:cs typeface="Montserrat"/>
              </a:rPr>
              <a:t>Безопасность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4965192" y="960120"/>
            <a:ext cx="603504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ru-RU" sz="36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Удобно, выгодно, </a:t>
            </a:r>
            <a:r>
              <a:rPr lang="ru-RU" sz="3600" dirty="0">
                <a:solidFill>
                  <a:srgbClr val="00C7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безопасно?</a:t>
            </a:r>
          </a:p>
        </p:txBody>
      </p:sp>
      <p:sp>
        <p:nvSpPr>
          <p:cNvPr id="7" name="Shape 5"/>
          <p:cNvSpPr/>
          <p:nvPr/>
        </p:nvSpPr>
        <p:spPr>
          <a:xfrm>
            <a:off x="1719072" y="4041648"/>
            <a:ext cx="2926080" cy="1499616"/>
          </a:xfrm>
          <a:prstGeom prst="roundRect">
            <a:avLst>
              <a:gd name="adj" fmla="val 103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56816" y="4206240"/>
            <a:ext cx="530352" cy="530352"/>
          </a:xfrm>
          <a:prstGeom prst="ellipse">
            <a:avLst/>
          </a:prstGeom>
          <a:solidFill>
            <a:srgbClr val="00C7AA"/>
          </a:solidFill>
          <a:ln/>
        </p:spPr>
        <p:txBody>
          <a:bodyPr wrap="none" lIns="0" tIns="0" rIns="0" bIns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892808" y="4754880"/>
            <a:ext cx="2587752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ru-RU" sz="13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Люди перебегали через дороги, и их давили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2615184" y="4315968"/>
            <a:ext cx="1856232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ru-RU" sz="14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Автомобили</a:t>
            </a:r>
          </a:p>
        </p:txBody>
      </p:sp>
      <p:sp>
        <p:nvSpPr>
          <p:cNvPr id="11" name="Shape 9"/>
          <p:cNvSpPr/>
          <p:nvPr/>
        </p:nvSpPr>
        <p:spPr>
          <a:xfrm>
            <a:off x="4791456" y="4041648"/>
            <a:ext cx="2926080" cy="1499616"/>
          </a:xfrm>
          <a:prstGeom prst="roundRect">
            <a:avLst>
              <a:gd name="adj" fmla="val 10366"/>
            </a:avLst>
          </a:prstGeom>
          <a:solidFill>
            <a:srgbClr val="4437E6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0056" y="420624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lIns="0" tIns="0" rIns="0" bIns="0" anchor="ctr"/>
          <a:lstStyle/>
          <a:p>
            <a:pPr algn="ctr"/>
            <a:r>
              <a:rPr lang="ru-RU" sz="1600" b="1">
                <a:solidFill>
                  <a:srgbClr val="4437E6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4956048" y="4754880"/>
            <a:ext cx="2587752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ru-RU" sz="1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Регулирование движения, пешеходные переходы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5687568" y="4315968"/>
            <a:ext cx="1856232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ru-RU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ПДД и переходы</a:t>
            </a:r>
          </a:p>
        </p:txBody>
      </p:sp>
      <p:sp>
        <p:nvSpPr>
          <p:cNvPr id="15" name="Shape 13"/>
          <p:cNvSpPr/>
          <p:nvPr/>
        </p:nvSpPr>
        <p:spPr>
          <a:xfrm>
            <a:off x="7854696" y="4041648"/>
            <a:ext cx="2926080" cy="1499616"/>
          </a:xfrm>
          <a:prstGeom prst="roundRect">
            <a:avLst>
              <a:gd name="adj" fmla="val 10366"/>
            </a:avLst>
          </a:prstGeom>
          <a:solidFill>
            <a:srgbClr val="4437E6"/>
          </a:solidFill>
          <a:ln/>
          <a:effectLst>
            <a:outerShdw sx="100000" sy="100000" kx="0" ky="0" algn="bl" rotWithShape="0" blurRad="1905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92440" y="420624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lIns="0" tIns="0" rIns="0" bIns="0" anchor="ctr"/>
          <a:lstStyle/>
          <a:p>
            <a:pPr algn="ctr"/>
            <a:r>
              <a:rPr lang="ru-RU" sz="1600" b="1">
                <a:solidFill>
                  <a:srgbClr val="4437E6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8028432" y="4754880"/>
            <a:ext cx="2587752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ru-RU" sz="1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Людей давить перестали — и это не тяжело</a:t>
            </a:r>
          </a:p>
        </p:txBody>
      </p:sp>
      <p:sp>
        <p:nvSpPr>
          <p:cNvPr id="18" name="Text 16"/>
          <p:cNvSpPr txBox="1"/>
          <p:nvPr/>
        </p:nvSpPr>
        <p:spPr>
          <a:xfrm>
            <a:off x="8759952" y="4315968"/>
            <a:ext cx="1856232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buNone/>
            </a:pPr>
            <a:r>
              <a:rPr lang="ru-RU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Это разумно</a:t>
            </a:r>
          </a:p>
        </p:txBody>
      </p:sp>
      <p:sp>
        <p:nvSpPr>
          <p:cNvPr id="25" name="Text 23"/>
          <p:cNvSpPr txBox="1"/>
          <p:nvPr/>
        </p:nvSpPr>
        <p:spPr>
          <a:xfrm>
            <a:off x="4965192" y="2194560"/>
            <a:ext cx="5852160" cy="1691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spcAft>
                <a:spcPts val="600"/>
              </a:spcAft>
              <a:lnSpc>
                <a:spcPct val="150000"/>
              </a:lnSpc>
              <a:buNone/>
            </a:pPr>
            <a:r>
              <a:rPr lang="ru-RU" sz="14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Вопрос ведущей: </a:t>
            </a:r>
            <a:r>
              <a:rPr lang="ru-RU" sz="14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можно ли соединить все три характеристики «или безопасность всегда выпадает?»</a:t>
            </a:r>
          </a:p>
          <a:p>
            <a:pPr algn="l" indent="0" marL="0">
              <a:spcAft>
                <a:spcPts val="600"/>
              </a:spcAft>
              <a:lnSpc>
                <a:spcPct val="150000"/>
              </a:lnSpc>
              <a:buNone/>
            </a:pPr>
            <a:r>
              <a:rPr lang="ru-RU" sz="14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Ответ Максимова: </a:t>
            </a:r>
            <a:r>
              <a:rPr lang="ru-RU" sz="14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«мы с точки зрения безопасности цифры просто как цивилизация не доработали»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329184"/>
            <a:ext cx="1106424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ИБ · ИИ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835640" y="6217920"/>
            <a:ext cx="896112" cy="265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 indent="0" marL="0">
              <a:buNone/>
            </a:pPr>
            <a:r>
              <a:rPr lang="ru-RU" sz="11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3154680" cy="5440680"/>
          </a:xfrm>
          <a:prstGeom prst="roundRect">
            <a:avLst>
              <a:gd name="adj" fmla="val 6117"/>
            </a:avLst>
          </a:prstGeom>
          <a:ln w="12700">
            <a:solidFill>
              <a:srgbClr val="ECEEF3"/>
            </a:solidFill>
            <a:prstDash val="solid"/>
          </a:ln>
        </p:spPr>
      </p:sp>
      <p:sp>
        <p:nvSpPr>
          <p:cNvPr id="61" name="Old model 61"/>
          <p:cNvSpPr/>
          <p:nvPr/>
        </p:nvSpPr>
        <p:spPr>
          <a:xfrm>
            <a:off x="822960" y="978407"/>
            <a:ext cx="288036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rIns="91440" tIns="27432" bIns="27432" anchor="ctr"/>
          <a:lstStyle/>
          <a:p>
            <a:pPr algn="ctr"/>
            <a:r>
              <a:rPr lang="ru-RU" sz="1500" b="1">
                <a:solidFill>
                  <a:srgbClr val="262626"/>
                </a:solidFill>
                <a:latin typeface="Montserrat"/>
                <a:ea typeface="Montserrat"/>
                <a:cs typeface="Montserrat"/>
              </a:rPr>
              <a:t>Старая модель:</a:t>
            </a:r>
          </a:p>
          <a:p>
            <a:pPr algn="ctr"/>
            <a:r>
              <a:rPr lang="ru-RU" sz="1400" b="0">
                <a:solidFill>
                  <a:srgbClr val="808080"/>
                </a:solidFill>
                <a:latin typeface="Nunito"/>
                <a:ea typeface="Nunito"/>
                <a:cs typeface="Nunito"/>
              </a:rPr>
              <a:t>безопасность через запреты</a:t>
            </a:r>
          </a:p>
        </p:txBody>
      </p:sp>
      <p:sp>
        <p:nvSpPr>
          <p:cNvPr id="62" name="Old model 62"/>
          <p:cNvSpPr/>
          <p:nvPr/>
        </p:nvSpPr>
        <p:spPr>
          <a:xfrm>
            <a:off x="868680" y="1600200"/>
            <a:ext cx="2788920" cy="804672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ECEEF3"/>
            </a:solidFill>
          </a:ln>
        </p:spPr>
        <p:txBody>
          <a:bodyPr wrap="square" lIns="91440" rIns="91440" tIns="27432" bIns="27432" anchor="ctr"/>
          <a:lstStyle/>
          <a:p>
            <a:pPr algn="ctr"/>
            <a:r>
              <a:rPr lang="ru-RU" sz="14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«Нельзя»: это, это и это</a:t>
            </a:r>
          </a:p>
        </p:txBody>
      </p:sp>
      <p:cxnSp>
        <p:nvCxnSpPr>
          <p:cNvPr id="63" name="Old model arrow 63"/>
          <p:cNvCxnSpPr/>
          <p:nvPr/>
        </p:nvCxnSpPr>
        <p:spPr>
          <a:xfrm>
            <a:off x="2263140" y="2423160"/>
            <a:ext cx="0" cy="109728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</p:cxnSp>
      <p:sp>
        <p:nvSpPr>
          <p:cNvPr id="64" name="Old model 64"/>
          <p:cNvSpPr/>
          <p:nvPr/>
        </p:nvSpPr>
        <p:spPr>
          <a:xfrm>
            <a:off x="868680" y="2551176"/>
            <a:ext cx="2788920" cy="804672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ECEEF3"/>
            </a:solidFill>
          </a:ln>
        </p:spPr>
        <p:txBody>
          <a:bodyPr wrap="square" lIns="91440" rIns="91440" tIns="27432" bIns="27432" anchor="ctr"/>
          <a:lstStyle/>
          <a:p>
            <a:pPr algn="ctr"/>
            <a:r>
              <a:rPr lang="ru-RU" sz="14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Периметр, ACL, политики</a:t>
            </a:r>
          </a:p>
        </p:txBody>
      </p:sp>
      <p:cxnSp>
        <p:nvCxnSpPr>
          <p:cNvPr id="65" name="Old model arrow 65"/>
          <p:cNvCxnSpPr/>
          <p:nvPr/>
        </p:nvCxnSpPr>
        <p:spPr>
          <a:xfrm>
            <a:off x="2263140" y="3374136"/>
            <a:ext cx="0" cy="109728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</p:cxnSp>
      <p:sp>
        <p:nvSpPr>
          <p:cNvPr id="66" name="Old model 66"/>
          <p:cNvSpPr/>
          <p:nvPr/>
        </p:nvSpPr>
        <p:spPr>
          <a:xfrm>
            <a:off x="868680" y="3502152"/>
            <a:ext cx="2788920" cy="804672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ECEEF3"/>
            </a:solidFill>
          </a:ln>
        </p:spPr>
        <p:txBody>
          <a:bodyPr wrap="square" lIns="91440" rIns="91440" tIns="27432" bIns="27432" anchor="ctr"/>
          <a:lstStyle/>
          <a:p>
            <a:pPr algn="ctr"/>
            <a:r>
              <a:rPr lang="ru-RU" sz="14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Цель: CIA — конфиденциальность, целостность, доступность</a:t>
            </a:r>
          </a:p>
        </p:txBody>
      </p:sp>
      <p:cxnSp>
        <p:nvCxnSpPr>
          <p:cNvPr id="67" name="Old model arrow 67"/>
          <p:cNvCxnSpPr/>
          <p:nvPr/>
        </p:nvCxnSpPr>
        <p:spPr>
          <a:xfrm>
            <a:off x="2263140" y="4325112"/>
            <a:ext cx="0" cy="109728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</p:cxnSp>
      <p:sp>
        <p:nvSpPr>
          <p:cNvPr id="68" name="Old model 68"/>
          <p:cNvSpPr/>
          <p:nvPr/>
        </p:nvSpPr>
        <p:spPr>
          <a:xfrm>
            <a:off x="868680" y="4453128"/>
            <a:ext cx="2788920" cy="804672"/>
          </a:xfrm>
          <a:prstGeom prst="roundRect">
            <a:avLst/>
          </a:prstGeom>
          <a:solidFill>
            <a:srgbClr val="F4F5FA"/>
          </a:solidFill>
          <a:ln w="12700">
            <a:solidFill>
              <a:srgbClr val="ECEEF3"/>
            </a:solidFill>
          </a:ln>
        </p:spPr>
        <p:txBody>
          <a:bodyPr wrap="square" lIns="91440" rIns="91440" tIns="27432" bIns="27432" anchor="ctr"/>
          <a:lstStyle/>
          <a:p>
            <a:pPr algn="ctr"/>
            <a:r>
              <a:rPr lang="ru-RU" sz="1400" b="0">
                <a:solidFill>
                  <a:srgbClr val="262626"/>
                </a:solidFill>
                <a:latin typeface="Nunito"/>
                <a:ea typeface="Nunito"/>
                <a:cs typeface="Nunito"/>
              </a:rPr>
              <a:t>Качество работы снижается, безопасность «не появляется»</a:t>
            </a:r>
          </a:p>
        </p:txBody>
      </p:sp>
      <p:cxnSp>
        <p:nvCxnSpPr>
          <p:cNvPr id="69" name="Old model arrow 69"/>
          <p:cNvCxnSpPr/>
          <p:nvPr/>
        </p:nvCxnSpPr>
        <p:spPr>
          <a:xfrm>
            <a:off x="2263140" y="5276088"/>
            <a:ext cx="0" cy="109728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</p:cxnSp>
      <p:sp>
        <p:nvSpPr>
          <p:cNvPr id="70" name="Old model 70"/>
          <p:cNvSpPr/>
          <p:nvPr/>
        </p:nvSpPr>
        <p:spPr>
          <a:xfrm>
            <a:off x="868680" y="5404104"/>
            <a:ext cx="2788920" cy="804672"/>
          </a:xfrm>
          <a:prstGeom prst="roundRect">
            <a:avLst/>
          </a:prstGeom>
          <a:solidFill>
            <a:srgbClr val="4437E6"/>
          </a:solidFill>
          <a:ln>
            <a:noFill/>
          </a:ln>
        </p:spPr>
        <p:txBody>
          <a:bodyPr wrap="square" lIns="91440" rIns="91440" tIns="27432" bIns="27432" anchor="ctr"/>
          <a:lstStyle/>
          <a:p>
            <a:pPr algn="ctr"/>
            <a:r>
              <a:rPr lang="ru-RU" sz="1400" b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С ИИ-агентом: агент «начинает тупить»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4114800" y="1097280"/>
            <a:ext cx="6766560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ru-RU" sz="4000" dirty="0">
                <a:solidFill>
                  <a:srgbClr val="26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Почему старая модель </a:t>
            </a:r>
            <a:r>
              <a:rPr lang="ru-RU" sz="4000" dirty="0">
                <a:solidFill>
                  <a:srgbClr val="00C7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буксует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4114800" y="2697480"/>
            <a:ext cx="6675120" cy="187451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spcAft>
                <a:spcPts val="800"/>
              </a:spcAft>
              <a:lnSpc>
                <a:spcPct val="150000"/>
              </a:lnSpc>
              <a:buNone/>
            </a:pPr>
            <a:r>
              <a:rPr lang="ru-RU" sz="1600" dirty="0">
                <a:solidFill>
                  <a:srgbClr val="8080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«С точки зрения цифры у нас всё время какие-то требования: это нельзя, это делать так, а наше качество работы снижается, а как будто кибербезопасность всё равно не появляется»</a:t>
            </a:r>
          </a:p>
          <a:p>
            <a:pPr algn="l" indent="0" marL="0">
              <a:spcAft>
                <a:spcPts val="800"/>
              </a:spcAft>
              <a:lnSpc>
                <a:spcPct val="150000"/>
              </a:lnSpc>
              <a:buNone/>
            </a:pPr>
            <a:r>
              <a:rPr lang="ru-RU" sz="1600" dirty="0">
                <a:solidFill>
                  <a:srgbClr val="2626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Юрий Максимов</a:t>
            </a:r>
          </a:p>
        </p:txBody>
      </p:sp>
      <p:sp>
        <p:nvSpPr>
          <p:cNvPr id="8" name="Shape 6"/>
          <p:cNvSpPr/>
          <p:nvPr/>
        </p:nvSpPr>
        <p:spPr>
          <a:xfrm>
            <a:off x="4114800" y="4800600"/>
            <a:ext cx="6675120" cy="822960"/>
          </a:xfrm>
          <a:prstGeom prst="roundRect">
            <a:avLst>
              <a:gd name="adj" fmla="val 20408"/>
            </a:avLst>
          </a:prstGeom>
          <a:solidFill>
            <a:srgbClr val="4437E6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0" y="5074920"/>
            <a:ext cx="269931" cy="269931"/>
          </a:xfrm>
          <a:prstGeom prst="roundRect">
            <a:avLst>
              <a:gd name="adj" fmla="val 25000"/>
            </a:avLst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5166360"/>
            <a:ext cx="86378" cy="8637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4846320"/>
            <a:ext cx="585216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ru-RU" sz="1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Старая модель: запреты — ACL, периметр, политики; цель — 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Безопасность в эпоху ИИ</dc:title>
  <dc:subject>PptxGenJS Presentation</dc:subject>
  <dc:creator>PptxGenJS</dc:creator>
  <cp:lastModifiedBy>PptxGenJS</cp:lastModifiedBy>
  <cp:revision>1</cp:revision>
  <dcterms:created xsi:type="dcterms:W3CDTF">2026-10-08T05:31:35Z</dcterms:created>
  <dcterms:modified xsi:type="dcterms:W3CDTF">2026-10-08T05:31:35Z</dcterms:modified>
</cp:coreProperties>
</file>